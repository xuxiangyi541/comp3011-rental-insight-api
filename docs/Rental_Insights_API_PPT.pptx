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4.svg" ContentType="image/svg+xml"/>
  <Override PartName="/ppt/media/image56.svg" ContentType="image/svg+xml"/>
  <Override PartName="/ppt/media/image58.svg" ContentType="image/svg+xml"/>
  <Override PartName="/ppt/media/image6.svg" ContentType="image/svg+xml"/>
  <Override PartName="/ppt/media/image60.svg" ContentType="image/svg+xml"/>
  <Override PartName="/ppt/media/image62.svg" ContentType="image/svg+xml"/>
  <Override PartName="/ppt/media/image64.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Lst>
  <p:notesMasterIdLst>
    <p:notesMasterId r:id="rId5"/>
  </p:notesMasterIdLst>
  <p:sldIdLst>
    <p:sldId id="256" r:id="rId4"/>
    <p:sldId id="257" r:id="rId6"/>
    <p:sldId id="258" r:id="rId7"/>
    <p:sldId id="259" r:id="rId8"/>
    <p:sldId id="260" r:id="rId9"/>
    <p:sldId id="261" r:id="rId10"/>
    <p:sldId id="262" r:id="rId11"/>
    <p:sldId id="263" r:id="rId12"/>
  </p:sldIdLst>
  <p:sldSz cx="12192000" cy="6858000"/>
  <p:notesSz cx="6858000" cy="9144000"/>
  <p:custDataLst>
    <p:tags r:id="rId16"/>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64"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78" d="100"/>
          <a:sy n="78" d="100"/>
        </p:scale>
        <p:origin x="658" y="62"/>
      </p:cViewPr>
      <p:guideLst>
        <p:guide orient="horz" pos="1664"/>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 Type="http://schemas.openxmlformats.org/officeDocument/2006/relationships/theme" Target="theme/theme1.xml"/><Relationship Id="rId16" Type="http://schemas.openxmlformats.org/officeDocument/2006/relationships/tags" Target="tags/tag1.xml"/><Relationship Id="rId15" Type="http://schemas.openxmlformats.org/officeDocument/2006/relationships/tableStyles" Target="tableStyles.xml"/><Relationship Id="rId14" Type="http://schemas.openxmlformats.org/officeDocument/2006/relationships/viewProps" Target="viewProps.xml"/><Relationship Id="rId13" Type="http://schemas.openxmlformats.org/officeDocument/2006/relationships/presProps" Target="presProps.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290234" y="512763"/>
            <a:ext cx="4563532"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234" y="512763"/>
            <a:ext cx="4563532"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Good morning/afternoon. My name is 徐祥义, and today I will present my COMP3011 coursework project: the Rental Insights API. This is a RESTful API designed to manage rental listings and provide valuable market insights based on both user-submitted data and official statistics.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234" y="512763"/>
            <a:ext cx="4563532"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project is a RESTful API that serves two main purposes: first, it allows users to perform standard CRUD operations on rental listings and the areas they belong to. Second, and more importantly, it provides analytical insights, such as calculating rent distributions and housing affordability. A key feature is the integration of official UK government rental data from the VOA, which adds a layer of authoritative market comparison. The final deliverables include the GitHub repository, auto-generated API docs, a technical report, and this presentation.</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234" y="512763"/>
            <a:ext cx="4563532"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API is built using FastAPI, chosen for its speed and automatic OpenAPI documentation. I used SQLAlchemy as the ORM to interact with a SQLite database, which is perfect for this coursework as it's lightweight and doesn't require a separate server. The project is structured into clear modules: main.py is the entry point, models.py defines the database schema, schemas.py handles data validation, and the routers folder contains all the API endpoints organized by feature. The scripts folder contains utilities for importing the official dataset.</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234" y="512763"/>
            <a:ext cx="4563532"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data model consists of three main tables. The Areas table holds geographic data and average income for affordability analysis. The Listings table stores all user-submitted rental information and is linked to an Area through a foreign key. The OfficialRentStats table is populated with data imported from the VOA Excel file, containing statistical distributions like median and mean rents. This structure allows for powerful queries that combine user data with official statistics.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234" y="512763"/>
            <a:ext cx="4563532"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API offers a range of core features. It supports full CRUD operations for managing listings and areas. The analytics endpoints provide powerful insights, such as calculating the average rent in an area or determining housing affordability. The official stats endpoints allow users to query the imported VOA data and compare it with user-submitted listings. Now, let me show you a quick demo of creating a listing and fetching area rent analytics using the interactive Swagger documentation.</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234" y="512763"/>
            <a:ext cx="4563532"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My technology choices were driven by the project requirements and ease of development. FastAPI was the obvious choice for building the API due to its speed, built-in data validation, and automatic documentation. For the database, I used SQLAlchemy with SQLite; the ORM simplifies database interactions, and SQLite is perfect for a demo project as it's self-contained. Finally, I used pandas and xlrd to handle the import of the official VOA Excel data, which was in an older .xls format.</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234" y="512763"/>
            <a:ext cx="4563532"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During development, I faced several challenges. Importing the old .xls file required specific libraries and handling missing data. I also resolved some Python path issues to ensure scripts and tests ran correctly. For future improvements, I would focus on performance by moving analytics to the database, enhance security with authentication, and automate the process of fetching the latest official data to keep the API up-to-date.</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234" y="512763"/>
            <a:ext cx="4563532"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In summary, the Rental Insights API fulfills all the coursework requirements by providing a robust solution for managing rental listings and delivering valuable market insights through analytics and official data integration. This project has been a great learning experience in API development and database management. Thank you for listening. I'm now ready to take any questions you may have.</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 name="Shape 11"/>
        <p:cNvGrpSpPr/>
        <p:nvPr/>
      </p:nvGrpSpPr>
      <p:grpSpPr>
        <a:xfrm>
          <a:off x="0" y="0"/>
          <a:ext cx="0" cy="0"/>
          <a:chOff x="0" y="0"/>
          <a:chExt cx="0" cy="0"/>
        </a:xfrm>
      </p:grpSpPr>
      <p:sp>
        <p:nvSpPr>
          <p:cNvPr id="12" name="Shape 30"/>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a:spLocks noGrp="1"/>
          </p:cNvSpPr>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 name="Shape 17"/>
        <p:cNvGrpSpPr/>
        <p:nvPr/>
      </p:nvGrpSpPr>
      <p:grpSpPr>
        <a:xfrm>
          <a:off x="0" y="0"/>
          <a:ext cx="0" cy="0"/>
          <a:chOff x="0" y="0"/>
          <a:chExt cx="0" cy="0"/>
        </a:xfrm>
      </p:grpSpPr>
      <p:sp>
        <p:nvSpPr>
          <p:cNvPr id="18" name="Shape 54"/>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1" name="Shape 23"/>
        <p:cNvGrpSpPr/>
        <p:nvPr/>
      </p:nvGrpSpPr>
      <p:grpSpPr>
        <a:xfrm>
          <a:off x="0" y="0"/>
          <a:ext cx="0" cy="0"/>
          <a:chOff x="0" y="0"/>
          <a:chExt cx="0" cy="0"/>
        </a:xfrm>
      </p:grpSpPr>
      <p:sp>
        <p:nvSpPr>
          <p:cNvPr id="24" name="Shape 59"/>
          <p:cNvSpPr txBox="1">
            <a:spLocks noGrp="1"/>
          </p:cNvSpPr>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a:spLocks noGrp="1"/>
          </p:cNvSpPr>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1" name="Shape 29"/>
        <p:cNvGrpSpPr/>
        <p:nvPr/>
      </p:nvGrpSpPr>
      <p:grpSpPr>
        <a:xfrm>
          <a:off x="0" y="0"/>
          <a:ext cx="0" cy="0"/>
          <a:chOff x="0" y="0"/>
          <a:chExt cx="0" cy="0"/>
        </a:xfrm>
      </p:grpSpPr>
      <p:sp>
        <p:nvSpPr>
          <p:cNvPr id="30" name="Shape 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a:spLocks noGrp="1"/>
          </p:cNvSpPr>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a:spLocks noGrp="1"/>
          </p:cNvSpPr>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1" name="Shape 36"/>
        <p:cNvGrpSpPr/>
        <p:nvPr/>
      </p:nvGrpSpPr>
      <p:grpSpPr>
        <a:xfrm>
          <a:off x="0" y="0"/>
          <a:ext cx="0" cy="0"/>
          <a:chOff x="0" y="0"/>
          <a:chExt cx="0" cy="0"/>
        </a:xfrm>
      </p:grpSpPr>
      <p:sp>
        <p:nvSpPr>
          <p:cNvPr id="37" name="Shape 35"/>
          <p:cNvSpPr txBox="1">
            <a:spLocks noGrp="1"/>
          </p:cNvSpPr>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a:spLocks noGrp="1"/>
          </p:cNvSpPr>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a:spLocks noGrp="1"/>
          </p:cNvSpPr>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a:spLocks noGrp="1"/>
          </p:cNvSpPr>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a:spLocks noGrp="1"/>
          </p:cNvSpPr>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1" name="Shape 45"/>
        <p:cNvGrpSpPr/>
        <p:nvPr/>
      </p:nvGrpSpPr>
      <p:grpSpPr>
        <a:xfrm>
          <a:off x="0" y="0"/>
          <a:ext cx="0" cy="0"/>
          <a:chOff x="0" y="0"/>
          <a:chExt cx="0" cy="0"/>
        </a:xfrm>
      </p:grpSpPr>
      <p:sp>
        <p:nvSpPr>
          <p:cNvPr id="46" name="Shape 20"/>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1" name="Shape 50"/>
        <p:cNvGrpSpPr/>
        <p:nvPr/>
      </p:nvGrpSpPr>
      <p:grpSpPr>
        <a:xfrm>
          <a:off x="0" y="0"/>
          <a:ext cx="0" cy="0"/>
          <a:chOff x="0" y="0"/>
          <a:chExt cx="0" cy="0"/>
        </a:xfrm>
      </p:grpSpPr>
      <p:sp>
        <p:nvSpPr>
          <p:cNvPr id="51" name="Shape 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1" name="Shape 54"/>
        <p:cNvGrpSpPr/>
        <p:nvPr/>
      </p:nvGrpSpPr>
      <p:grpSpPr>
        <a:xfrm>
          <a:off x="0" y="0"/>
          <a:ext cx="0" cy="0"/>
          <a:chOff x="0" y="0"/>
          <a:chExt cx="0" cy="0"/>
        </a:xfrm>
      </p:grpSpPr>
      <p:sp>
        <p:nvSpPr>
          <p:cNvPr id="55" name="Shape 43"/>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a:spLocks noGrp="1"/>
          </p:cNvSpPr>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a:spLocks noGrp="1"/>
          </p:cNvSpPr>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1" name="Shape 61"/>
        <p:cNvGrpSpPr/>
        <p:nvPr/>
      </p:nvGrpSpPr>
      <p:grpSpPr>
        <a:xfrm>
          <a:off x="0" y="0"/>
          <a:ext cx="0" cy="0"/>
          <a:chOff x="0" y="0"/>
          <a:chExt cx="0" cy="0"/>
        </a:xfrm>
      </p:grpSpPr>
      <p:sp>
        <p:nvSpPr>
          <p:cNvPr id="62" name="Shape 24"/>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a:spLocks noGrp="1"/>
          </p:cNvSpPr>
          <p:nvPr>
            <p:ph type="pic" idx="2"/>
          </p:nvPr>
        </p:nvSpPr>
        <p:spPr>
          <a:xfrm>
            <a:off x="3887391" y="740569"/>
            <a:ext cx="4629150" cy="3655219"/>
          </a:xfrm>
          <a:prstGeom prst="rect">
            <a:avLst/>
          </a:prstGeom>
          <a:noFill/>
          <a:ln>
            <a:noFill/>
          </a:ln>
        </p:spPr>
      </p:sp>
      <p:sp>
        <p:nvSpPr>
          <p:cNvPr id="64" name="Shape 26"/>
          <p:cNvSpPr txBox="1">
            <a:spLocks noGrp="1"/>
          </p:cNvSpPr>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1" name="Shape 68"/>
        <p:cNvGrpSpPr/>
        <p:nvPr/>
      </p:nvGrpSpPr>
      <p:grpSpPr>
        <a:xfrm>
          <a:off x="0" y="0"/>
          <a:ext cx="0" cy="0"/>
          <a:chOff x="0" y="0"/>
          <a:chExt cx="0" cy="0"/>
        </a:xfrm>
      </p:grpSpPr>
      <p:sp>
        <p:nvSpPr>
          <p:cNvPr id="69" name="Shape 4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a:spLocks noGrp="1"/>
          </p:cNvSpPr>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1" name="Shape 74"/>
        <p:cNvGrpSpPr/>
        <p:nvPr/>
      </p:nvGrpSpPr>
      <p:grpSpPr>
        <a:xfrm>
          <a:off x="0" y="0"/>
          <a:ext cx="0" cy="0"/>
          <a:chOff x="0" y="0"/>
          <a:chExt cx="0" cy="0"/>
        </a:xfrm>
      </p:grpSpPr>
      <p:sp>
        <p:nvSpPr>
          <p:cNvPr id="75" name="Shape 15"/>
          <p:cNvSpPr txBox="1">
            <a:spLocks noGrp="1"/>
          </p:cNvSpPr>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a:spLocks noGrp="1"/>
          </p:cNvSpPr>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1"/>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8.svg"/><Relationship Id="rId7" Type="http://schemas.openxmlformats.org/officeDocument/2006/relationships/image" Target="../media/image7.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 Id="rId3" Type="http://schemas.openxmlformats.org/officeDocument/2006/relationships/image" Target="../media/image3.png"/><Relationship Id="rId2" Type="http://schemas.openxmlformats.org/officeDocument/2006/relationships/image" Target="../media/image2.svg"/><Relationship Id="rId10" Type="http://schemas.openxmlformats.org/officeDocument/2006/relationships/notesSlide" Target="../notesSlides/notesSlide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6.svg"/><Relationship Id="rId7" Type="http://schemas.openxmlformats.org/officeDocument/2006/relationships/image" Target="../media/image15.png"/><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 Id="rId3" Type="http://schemas.openxmlformats.org/officeDocument/2006/relationships/image" Target="../media/image11.png"/><Relationship Id="rId2" Type="http://schemas.openxmlformats.org/officeDocument/2006/relationships/image" Target="../media/image10.svg"/><Relationship Id="rId10" Type="http://schemas.openxmlformats.org/officeDocument/2006/relationships/notesSlide" Target="../notesSlides/notesSlide2.xml"/><Relationship Id="rId1" Type="http://schemas.openxmlformats.org/officeDocument/2006/relationships/image" Target="../media/image9.png"/></Relationships>
</file>

<file path=ppt/slides/_rels/slide3.xml.rels><?xml version="1.0" encoding="UTF-8" standalone="yes"?>
<Relationships xmlns="http://schemas.openxmlformats.org/package/2006/relationships"><Relationship Id="rId9" Type="http://schemas.openxmlformats.org/officeDocument/2006/relationships/image" Target="../media/image25.png"/><Relationship Id="rId8" Type="http://schemas.openxmlformats.org/officeDocument/2006/relationships/image" Target="../media/image24.svg"/><Relationship Id="rId7" Type="http://schemas.openxmlformats.org/officeDocument/2006/relationships/image" Target="../media/image23.png"/><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svg"/><Relationship Id="rId3" Type="http://schemas.openxmlformats.org/officeDocument/2006/relationships/image" Target="../media/image19.png"/><Relationship Id="rId2" Type="http://schemas.openxmlformats.org/officeDocument/2006/relationships/image" Target="../media/image18.svg"/><Relationship Id="rId14" Type="http://schemas.openxmlformats.org/officeDocument/2006/relationships/notesSlide" Target="../notesSlides/notesSlide3.xml"/><Relationship Id="rId13" Type="http://schemas.openxmlformats.org/officeDocument/2006/relationships/slideLayout" Target="../slideLayouts/slideLayout12.xml"/><Relationship Id="rId12" Type="http://schemas.openxmlformats.org/officeDocument/2006/relationships/image" Target="../media/image28.svg"/><Relationship Id="rId11" Type="http://schemas.openxmlformats.org/officeDocument/2006/relationships/image" Target="../media/image27.png"/><Relationship Id="rId10" Type="http://schemas.openxmlformats.org/officeDocument/2006/relationships/image" Target="../media/image26.svg"/><Relationship Id="rId1" Type="http://schemas.openxmlformats.org/officeDocument/2006/relationships/image" Target="../media/image17.png"/></Relationships>
</file>

<file path=ppt/slides/_rels/slide4.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36.svg"/><Relationship Id="rId7" Type="http://schemas.openxmlformats.org/officeDocument/2006/relationships/image" Target="../media/image35.png"/><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32.svg"/><Relationship Id="rId3" Type="http://schemas.openxmlformats.org/officeDocument/2006/relationships/image" Target="../media/image31.png"/><Relationship Id="rId2" Type="http://schemas.openxmlformats.org/officeDocument/2006/relationships/image" Target="../media/image30.svg"/><Relationship Id="rId10" Type="http://schemas.openxmlformats.org/officeDocument/2006/relationships/notesSlide" Target="../notesSlides/notesSlide4.xml"/><Relationship Id="rId1" Type="http://schemas.openxmlformats.org/officeDocument/2006/relationships/image" Target="../media/image29.png"/></Relationships>
</file>

<file path=ppt/slides/_rels/slide5.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44.svg"/><Relationship Id="rId7" Type="http://schemas.openxmlformats.org/officeDocument/2006/relationships/image" Target="../media/image43.png"/><Relationship Id="rId6" Type="http://schemas.openxmlformats.org/officeDocument/2006/relationships/image" Target="../media/image42.svg"/><Relationship Id="rId5" Type="http://schemas.openxmlformats.org/officeDocument/2006/relationships/image" Target="../media/image41.png"/><Relationship Id="rId4" Type="http://schemas.openxmlformats.org/officeDocument/2006/relationships/image" Target="../media/image40.svg"/><Relationship Id="rId3" Type="http://schemas.openxmlformats.org/officeDocument/2006/relationships/image" Target="../media/image39.png"/><Relationship Id="rId2" Type="http://schemas.openxmlformats.org/officeDocument/2006/relationships/image" Target="../media/image38.svg"/><Relationship Id="rId10" Type="http://schemas.openxmlformats.org/officeDocument/2006/relationships/notesSlide" Target="../notesSlides/notesSlide5.xml"/><Relationship Id="rId1" Type="http://schemas.openxmlformats.org/officeDocument/2006/relationships/image" Target="../media/image37.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12.xml"/><Relationship Id="rId6" Type="http://schemas.openxmlformats.org/officeDocument/2006/relationships/image" Target="../media/image48.svg"/><Relationship Id="rId5" Type="http://schemas.openxmlformats.org/officeDocument/2006/relationships/image" Target="../media/image47.png"/><Relationship Id="rId4" Type="http://schemas.openxmlformats.org/officeDocument/2006/relationships/image" Target="../media/image14.svg"/><Relationship Id="rId3" Type="http://schemas.openxmlformats.org/officeDocument/2006/relationships/image" Target="../media/image13.png"/><Relationship Id="rId2" Type="http://schemas.openxmlformats.org/officeDocument/2006/relationships/image" Target="../media/image46.svg"/><Relationship Id="rId1" Type="http://schemas.openxmlformats.org/officeDocument/2006/relationships/image" Target="../media/image45.png"/></Relationships>
</file>

<file path=ppt/slides/_rels/slide7.xml.rels><?xml version="1.0" encoding="UTF-8" standalone="yes"?>
<Relationships xmlns="http://schemas.openxmlformats.org/package/2006/relationships"><Relationship Id="rId9" Type="http://schemas.openxmlformats.org/officeDocument/2006/relationships/image" Target="../media/image57.png"/><Relationship Id="rId8" Type="http://schemas.openxmlformats.org/officeDocument/2006/relationships/image" Target="../media/image56.svg"/><Relationship Id="rId7" Type="http://schemas.openxmlformats.org/officeDocument/2006/relationships/image" Target="../media/image55.png"/><Relationship Id="rId6" Type="http://schemas.openxmlformats.org/officeDocument/2006/relationships/image" Target="../media/image54.svg"/><Relationship Id="rId5" Type="http://schemas.openxmlformats.org/officeDocument/2006/relationships/image" Target="../media/image53.png"/><Relationship Id="rId4" Type="http://schemas.openxmlformats.org/officeDocument/2006/relationships/image" Target="../media/image52.svg"/><Relationship Id="rId3" Type="http://schemas.openxmlformats.org/officeDocument/2006/relationships/image" Target="../media/image51.png"/><Relationship Id="rId2" Type="http://schemas.openxmlformats.org/officeDocument/2006/relationships/image" Target="../media/image50.svg"/><Relationship Id="rId18" Type="http://schemas.openxmlformats.org/officeDocument/2006/relationships/notesSlide" Target="../notesSlides/notesSlide7.xml"/><Relationship Id="rId17" Type="http://schemas.openxmlformats.org/officeDocument/2006/relationships/slideLayout" Target="../slideLayouts/slideLayout12.xml"/><Relationship Id="rId16" Type="http://schemas.openxmlformats.org/officeDocument/2006/relationships/image" Target="../media/image64.svg"/><Relationship Id="rId15" Type="http://schemas.openxmlformats.org/officeDocument/2006/relationships/image" Target="../media/image63.png"/><Relationship Id="rId14" Type="http://schemas.openxmlformats.org/officeDocument/2006/relationships/image" Target="../media/image62.svg"/><Relationship Id="rId13" Type="http://schemas.openxmlformats.org/officeDocument/2006/relationships/image" Target="../media/image61.png"/><Relationship Id="rId12" Type="http://schemas.openxmlformats.org/officeDocument/2006/relationships/image" Target="../media/image60.svg"/><Relationship Id="rId11" Type="http://schemas.openxmlformats.org/officeDocument/2006/relationships/image" Target="../media/image59.png"/><Relationship Id="rId10" Type="http://schemas.openxmlformats.org/officeDocument/2006/relationships/image" Target="../media/image58.svg"/><Relationship Id="rId1" Type="http://schemas.openxmlformats.org/officeDocument/2006/relationships/image" Target="../media/image4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47A1">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1524000" y="857250"/>
            <a:ext cx="9144000" cy="5143500"/>
          </a:xfrm>
          <a:prstGeom prst="roundRect">
            <a:avLst>
              <a:gd name="adj" fmla="val 0"/>
            </a:avLst>
          </a:prstGeom>
          <a:solidFill>
            <a:srgbClr val="0D47A1">
              <a:alpha val="85000"/>
            </a:srgbClr>
          </a:solidFill>
          <a:ln w="25400" cap="flat" cmpd="sng">
            <a:noFill/>
            <a:prstDash val="solid"/>
            <a:round/>
          </a:ln>
        </p:spPr>
        <p:txBody>
          <a:bodyPr vert="horz" wrap="square" lIns="47625" tIns="47625" rIns="47625" bIns="47625" rtlCol="0" anchor="ctr"/>
          <a:lstStyle/>
          <a:p>
            <a:pPr algn="ctr">
              <a:defRPr/>
            </a:pPr>
            <a:endParaRPr sz="1050"/>
          </a:p>
        </p:txBody>
      </p:sp>
      <p:sp>
        <p:nvSpPr>
          <p:cNvPr id="3" name="AutoShape 3"/>
          <p:cNvSpPr/>
          <p:nvPr/>
        </p:nvSpPr>
        <p:spPr>
          <a:xfrm>
            <a:off x="2286000" y="2381250"/>
            <a:ext cx="7620000" cy="5715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30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Rental Insights API</a:t>
            </a:r>
            <a:endParaRPr lang="en-US" sz="825"/>
          </a:p>
        </p:txBody>
      </p:sp>
      <p:sp>
        <p:nvSpPr>
          <p:cNvPr id="4" name="AutoShape 4"/>
          <p:cNvSpPr/>
          <p:nvPr/>
        </p:nvSpPr>
        <p:spPr>
          <a:xfrm>
            <a:off x="2286000" y="3000375"/>
            <a:ext cx="7620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500" b="0" i="0" u="none" strike="noStrike">
                <a:solidFill>
                  <a:srgbClr val="42A5F5"/>
                </a:solidFill>
                <a:latin typeface="Noto Sans SC" panose="020B0200000000000000" charset="-122"/>
                <a:ea typeface="Noto Sans SC" panose="020B0200000000000000" charset="-122"/>
                <a:cs typeface="Noto Sans SC" panose="020B0200000000000000" charset="-122"/>
                <a:sym typeface="Noto Sans SC" panose="020B0200000000000000" charset="-122"/>
              </a:rPr>
              <a:t>A RESTful API for Rental Listings and Market Insights</a:t>
            </a:r>
            <a:endParaRPr lang="en-US" sz="825"/>
          </a:p>
        </p:txBody>
      </p:sp>
      <p:cxnSp>
        <p:nvCxnSpPr>
          <p:cNvPr id="5" name="Connector 5"/>
          <p:cNvCxnSpPr/>
          <p:nvPr/>
        </p:nvCxnSpPr>
        <p:spPr>
          <a:xfrm rot="-34376">
            <a:off x="5619774" y="3519488"/>
            <a:ext cx="952500" cy="9525"/>
          </a:xfrm>
          <a:prstGeom prst="straightConnector1">
            <a:avLst/>
          </a:prstGeom>
          <a:solidFill>
            <a:srgbClr val="DEE0E3">
              <a:alpha val="100000"/>
            </a:srgbClr>
          </a:solidFill>
          <a:ln w="25400" cap="flat" cmpd="sng">
            <a:solidFill>
              <a:srgbClr val="42A5F5">
                <a:alpha val="100000"/>
              </a:srgbClr>
            </a:solidFill>
            <a:prstDash val="solid"/>
            <a:round/>
            <a:headEnd type="none" w="lg" len="lg"/>
            <a:tailEnd type="none" w="lg" len="lg"/>
          </a:ln>
        </p:spPr>
      </p:cxn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238500" y="4476750"/>
            <a:ext cx="190500" cy="190500"/>
          </a:xfrm>
          <a:prstGeom prst="rect">
            <a:avLst/>
          </a:prstGeom>
        </p:spPr>
      </p:pic>
      <p:sp>
        <p:nvSpPr>
          <p:cNvPr id="7" name="AutoShape 7"/>
          <p:cNvSpPr/>
          <p:nvPr/>
        </p:nvSpPr>
        <p:spPr>
          <a:xfrm>
            <a:off x="3476625" y="4457700"/>
            <a:ext cx="1905000" cy="228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050" b="0" i="0" u="none" strike="noStrike" dirty="0">
                <a:solidFill>
                  <a:srgbClr val="E0E0E0"/>
                </a:solidFill>
                <a:latin typeface="Noto Sans SC" panose="020B0200000000000000" charset="-122"/>
                <a:ea typeface="Noto Sans SC" panose="020B0200000000000000" charset="-122"/>
                <a:cs typeface="Noto Sans SC" panose="020B0200000000000000" charset="-122"/>
                <a:sym typeface="Noto Sans SC" panose="020B0200000000000000" charset="-122"/>
              </a:rPr>
              <a:t>Name: </a:t>
            </a:r>
            <a:r>
              <a:rPr lang="en-US" altLang="zh-CN" sz="1050" dirty="0">
                <a:solidFill>
                  <a:srgbClr val="E0E0E0"/>
                </a:solidFill>
                <a:latin typeface="Noto Sans SC" panose="020B0200000000000000" charset="-122"/>
                <a:ea typeface="Noto Sans SC" panose="020B0200000000000000" charset="-122"/>
                <a:cs typeface="Noto Sans SC" panose="020B0200000000000000" charset="-122"/>
                <a:sym typeface="Noto Sans SC" panose="020B0200000000000000" charset="-122"/>
              </a:rPr>
              <a:t>Xiangyi Xu</a:t>
            </a:r>
            <a:endParaRPr lang="en-US" sz="825" dirty="0"/>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096000" y="4476750"/>
            <a:ext cx="190500" cy="190500"/>
          </a:xfrm>
          <a:prstGeom prst="rect">
            <a:avLst/>
          </a:prstGeom>
        </p:spPr>
      </p:pic>
      <p:sp>
        <p:nvSpPr>
          <p:cNvPr id="9" name="AutoShape 9"/>
          <p:cNvSpPr/>
          <p:nvPr/>
        </p:nvSpPr>
        <p:spPr>
          <a:xfrm>
            <a:off x="6334125" y="4457700"/>
            <a:ext cx="1905000" cy="228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050" b="0" i="0" u="none" strike="noStrike">
                <a:solidFill>
                  <a:srgbClr val="E0E0E0"/>
                </a:solidFill>
                <a:latin typeface="Noto Sans SC" panose="020B0200000000000000" charset="-122"/>
                <a:ea typeface="Noto Sans SC" panose="020B0200000000000000" charset="-122"/>
                <a:cs typeface="Noto Sans SC" panose="020B0200000000000000" charset="-122"/>
                <a:sym typeface="Noto Sans SC" panose="020B0200000000000000" charset="-122"/>
              </a:rPr>
              <a:t>Student ID: 201724467</a:t>
            </a:r>
            <a:endParaRPr lang="en-US" sz="825"/>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38500" y="4810125"/>
            <a:ext cx="190500" cy="190500"/>
          </a:xfrm>
          <a:prstGeom prst="rect">
            <a:avLst/>
          </a:prstGeom>
        </p:spPr>
      </p:pic>
      <p:sp>
        <p:nvSpPr>
          <p:cNvPr id="11" name="AutoShape 11"/>
          <p:cNvSpPr/>
          <p:nvPr/>
        </p:nvSpPr>
        <p:spPr>
          <a:xfrm>
            <a:off x="3476625" y="4791075"/>
            <a:ext cx="2857500" cy="228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050" b="0" i="0" u="none" strike="noStrike">
                <a:solidFill>
                  <a:srgbClr val="E0E0E0"/>
                </a:solidFill>
                <a:latin typeface="Noto Sans SC" panose="020B0200000000000000" charset="-122"/>
                <a:ea typeface="Noto Sans SC" panose="020B0200000000000000" charset="-122"/>
                <a:cs typeface="Noto Sans SC" panose="020B0200000000000000" charset="-122"/>
                <a:sym typeface="Noto Sans SC" panose="020B0200000000000000" charset="-122"/>
              </a:rPr>
              <a:t>Course: COMP3011 Coursework 1</a:t>
            </a:r>
            <a:endParaRPr lang="en-US" sz="825"/>
          </a:p>
        </p:txBody>
      </p:sp>
      <p:pic>
        <p:nvPicPr>
          <p:cNvPr id="12" name="Picture 12"/>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096000" y="4810125"/>
            <a:ext cx="190500" cy="190500"/>
          </a:xfrm>
          <a:prstGeom prst="rect">
            <a:avLst/>
          </a:prstGeom>
        </p:spPr>
      </p:pic>
      <p:sp>
        <p:nvSpPr>
          <p:cNvPr id="13" name="AutoShape 13"/>
          <p:cNvSpPr/>
          <p:nvPr/>
        </p:nvSpPr>
        <p:spPr>
          <a:xfrm>
            <a:off x="6334125" y="4791075"/>
            <a:ext cx="1905000" cy="228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050" b="0" i="0" u="none" strike="noStrike">
                <a:solidFill>
                  <a:srgbClr val="E0E0E0"/>
                </a:solidFill>
                <a:latin typeface="Noto Sans SC" panose="020B0200000000000000" charset="-122"/>
                <a:ea typeface="Noto Sans SC" panose="020B0200000000000000" charset="-122"/>
                <a:cs typeface="Noto Sans SC" panose="020B0200000000000000" charset="-122"/>
                <a:sym typeface="Noto Sans SC" panose="020B0200000000000000" charset="-122"/>
              </a:rPr>
              <a:t>Date: March 2026</a:t>
            </a:r>
            <a:endParaRPr lang="en-US" sz="82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47A1">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1524000" y="857250"/>
            <a:ext cx="9144000" cy="5143500"/>
          </a:xfrm>
          <a:prstGeom prst="roundRect">
            <a:avLst>
              <a:gd name="adj" fmla="val 0"/>
            </a:avLst>
          </a:prstGeom>
          <a:solidFill>
            <a:srgbClr val="0D47A1">
              <a:alpha val="85000"/>
            </a:srgbClr>
          </a:solidFill>
          <a:ln w="25400" cap="flat" cmpd="sng">
            <a:noFill/>
            <a:prstDash val="solid"/>
            <a:round/>
          </a:ln>
        </p:spPr>
        <p:txBody>
          <a:bodyPr vert="horz" wrap="square" lIns="47625" tIns="47625" rIns="47625" bIns="47625" rtlCol="0" anchor="ctr"/>
          <a:lstStyle/>
          <a:p>
            <a:pPr algn="ctr">
              <a:defRPr/>
            </a:pPr>
            <a:endParaRPr sz="1050"/>
          </a:p>
        </p:txBody>
      </p:sp>
      <p:sp>
        <p:nvSpPr>
          <p:cNvPr id="3" name="AutoShape 3"/>
          <p:cNvSpPr/>
          <p:nvPr/>
        </p:nvSpPr>
        <p:spPr>
          <a:xfrm>
            <a:off x="2095500" y="1619250"/>
            <a:ext cx="8001000" cy="4762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7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Project Overview</a:t>
            </a:r>
            <a:endParaRPr lang="en-US" sz="825"/>
          </a:p>
        </p:txBody>
      </p:sp>
      <p:sp>
        <p:nvSpPr>
          <p:cNvPr id="4" name="AutoShape 4"/>
          <p:cNvSpPr/>
          <p:nvPr/>
        </p:nvSpPr>
        <p:spPr>
          <a:xfrm>
            <a:off x="2095500" y="2381250"/>
            <a:ext cx="3905250" cy="1524000"/>
          </a:xfrm>
          <a:prstGeom prst="roundRect">
            <a:avLst>
              <a:gd name="adj" fmla="val 6250"/>
            </a:avLst>
          </a:prstGeom>
          <a:solidFill>
            <a:srgbClr val="FFFFFF">
              <a:alpha val="10000"/>
            </a:srgbClr>
          </a:solidFill>
          <a:ln w="12700" cap="flat" cmpd="sng">
            <a:solidFill>
              <a:srgbClr val="42A5F5">
                <a:alpha val="30000"/>
              </a:srgbClr>
            </a:solidFill>
            <a:prstDash val="solid"/>
            <a:round/>
          </a:ln>
        </p:spPr>
        <p:txBody>
          <a:bodyPr vert="horz" wrap="square" lIns="47625" tIns="47625" rIns="47625" bIns="47625" rtlCol="0" anchor="ctr"/>
          <a:lstStyle/>
          <a:p>
            <a:pPr algn="ctr">
              <a:defRPr/>
            </a:pPr>
            <a:endParaRPr sz="1050"/>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286000" y="2571750"/>
            <a:ext cx="304800" cy="304800"/>
          </a:xfrm>
          <a:prstGeom prst="rect">
            <a:avLst/>
          </a:prstGeom>
        </p:spPr>
      </p:pic>
      <p:sp>
        <p:nvSpPr>
          <p:cNvPr id="6" name="AutoShape 6"/>
          <p:cNvSpPr/>
          <p:nvPr/>
        </p:nvSpPr>
        <p:spPr>
          <a:xfrm>
            <a:off x="2667000" y="2571750"/>
            <a:ext cx="3238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42A5F5"/>
                </a:solidFill>
                <a:latin typeface="Noto Sans SC" panose="020B0200000000000000" charset="-122"/>
                <a:ea typeface="Noto Sans SC" panose="020B0200000000000000" charset="-122"/>
                <a:cs typeface="Noto Sans SC" panose="020B0200000000000000" charset="-122"/>
                <a:sym typeface="Noto Sans SC" panose="020B0200000000000000" charset="-122"/>
              </a:rPr>
              <a:t>Core Functionality</a:t>
            </a:r>
            <a:endParaRPr lang="en-US" sz="825"/>
          </a:p>
        </p:txBody>
      </p:sp>
      <p:sp>
        <p:nvSpPr>
          <p:cNvPr id="7" name="AutoShape 7"/>
          <p:cNvSpPr/>
          <p:nvPr/>
        </p:nvSpPr>
        <p:spPr>
          <a:xfrm>
            <a:off x="2286000" y="2905125"/>
            <a:ext cx="352425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dirty="0">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Implements CRUD operations for rental listings and geographic areas, providing a solid foundation for data management.</a:t>
            </a:r>
            <a:endParaRPr lang="en-US" sz="825" dirty="0"/>
          </a:p>
        </p:txBody>
      </p:sp>
      <p:sp>
        <p:nvSpPr>
          <p:cNvPr id="8" name="AutoShape 8"/>
          <p:cNvSpPr/>
          <p:nvPr/>
        </p:nvSpPr>
        <p:spPr>
          <a:xfrm>
            <a:off x="6191250" y="2381250"/>
            <a:ext cx="3905250" cy="1524000"/>
          </a:xfrm>
          <a:prstGeom prst="roundRect">
            <a:avLst>
              <a:gd name="adj" fmla="val 6250"/>
            </a:avLst>
          </a:prstGeom>
          <a:solidFill>
            <a:srgbClr val="FFFFFF">
              <a:alpha val="10000"/>
            </a:srgbClr>
          </a:solidFill>
          <a:ln w="12700" cap="flat" cmpd="sng">
            <a:solidFill>
              <a:srgbClr val="42A5F5">
                <a:alpha val="30000"/>
              </a:srgbClr>
            </a:solidFill>
            <a:prstDash val="solid"/>
            <a:round/>
          </a:ln>
        </p:spPr>
        <p:txBody>
          <a:bodyPr vert="horz" wrap="square" lIns="47625" tIns="47625" rIns="47625" bIns="47625" rtlCol="0" anchor="ctr"/>
          <a:lstStyle/>
          <a:p>
            <a:pPr algn="ctr">
              <a:defRPr/>
            </a:pPr>
            <a:endParaRPr sz="1050"/>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81750" y="2571750"/>
            <a:ext cx="304800" cy="304800"/>
          </a:xfrm>
          <a:prstGeom prst="rect">
            <a:avLst/>
          </a:prstGeom>
        </p:spPr>
      </p:pic>
      <p:sp>
        <p:nvSpPr>
          <p:cNvPr id="10" name="AutoShape 10"/>
          <p:cNvSpPr/>
          <p:nvPr/>
        </p:nvSpPr>
        <p:spPr>
          <a:xfrm>
            <a:off x="6762750" y="2571750"/>
            <a:ext cx="3238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42A5F5"/>
                </a:solidFill>
                <a:latin typeface="Noto Sans SC" panose="020B0200000000000000" charset="-122"/>
                <a:ea typeface="Noto Sans SC" panose="020B0200000000000000" charset="-122"/>
                <a:cs typeface="Noto Sans SC" panose="020B0200000000000000" charset="-122"/>
                <a:sym typeface="Noto Sans SC" panose="020B0200000000000000" charset="-122"/>
              </a:rPr>
              <a:t>Market Insights</a:t>
            </a:r>
            <a:endParaRPr lang="en-US" sz="825"/>
          </a:p>
        </p:txBody>
      </p:sp>
      <p:sp>
        <p:nvSpPr>
          <p:cNvPr id="11" name="AutoShape 11"/>
          <p:cNvSpPr/>
          <p:nvPr/>
        </p:nvSpPr>
        <p:spPr>
          <a:xfrm>
            <a:off x="6381750" y="2905125"/>
            <a:ext cx="352425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Provides analytics endpoints to calculate rent distribution and affordability indicators, enabling data-driven decisions.</a:t>
            </a:r>
            <a:endParaRPr lang="en-US" sz="825"/>
          </a:p>
        </p:txBody>
      </p:sp>
      <p:sp>
        <p:nvSpPr>
          <p:cNvPr id="12" name="AutoShape 12"/>
          <p:cNvSpPr/>
          <p:nvPr/>
        </p:nvSpPr>
        <p:spPr>
          <a:xfrm>
            <a:off x="2095500" y="4048125"/>
            <a:ext cx="3905250" cy="1524000"/>
          </a:xfrm>
          <a:prstGeom prst="roundRect">
            <a:avLst>
              <a:gd name="adj" fmla="val 6250"/>
            </a:avLst>
          </a:prstGeom>
          <a:solidFill>
            <a:srgbClr val="FFFFFF">
              <a:alpha val="10000"/>
            </a:srgbClr>
          </a:solidFill>
          <a:ln w="12700" cap="flat" cmpd="sng">
            <a:solidFill>
              <a:srgbClr val="42A5F5">
                <a:alpha val="30000"/>
              </a:srgbClr>
            </a:solidFill>
            <a:prstDash val="solid"/>
            <a:round/>
          </a:ln>
        </p:spPr>
        <p:txBody>
          <a:bodyPr vert="horz" wrap="square" lIns="47625" tIns="47625" rIns="47625" bIns="47625" rtlCol="0" anchor="ctr"/>
          <a:lstStyle/>
          <a:p>
            <a:pPr algn="ctr">
              <a:defRPr/>
            </a:pPr>
            <a:endParaRPr sz="1050"/>
          </a:p>
        </p:txBody>
      </p:sp>
      <p:pic>
        <p:nvPicPr>
          <p:cNvPr id="13" name="Picture 13"/>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286000" y="4238625"/>
            <a:ext cx="304800" cy="304800"/>
          </a:xfrm>
          <a:prstGeom prst="rect">
            <a:avLst/>
          </a:prstGeom>
        </p:spPr>
      </p:pic>
      <p:sp>
        <p:nvSpPr>
          <p:cNvPr id="14" name="AutoShape 14"/>
          <p:cNvSpPr/>
          <p:nvPr/>
        </p:nvSpPr>
        <p:spPr>
          <a:xfrm>
            <a:off x="2667000" y="4238625"/>
            <a:ext cx="3238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42A5F5"/>
                </a:solidFill>
                <a:latin typeface="Noto Sans SC" panose="020B0200000000000000" charset="-122"/>
                <a:ea typeface="Noto Sans SC" panose="020B0200000000000000" charset="-122"/>
                <a:cs typeface="Noto Sans SC" panose="020B0200000000000000" charset="-122"/>
                <a:sym typeface="Noto Sans SC" panose="020B0200000000000000" charset="-122"/>
              </a:rPr>
              <a:t>Official Data Integration</a:t>
            </a:r>
            <a:endParaRPr lang="en-US" sz="825"/>
          </a:p>
        </p:txBody>
      </p:sp>
      <p:sp>
        <p:nvSpPr>
          <p:cNvPr id="15" name="AutoShape 15"/>
          <p:cNvSpPr/>
          <p:nvPr/>
        </p:nvSpPr>
        <p:spPr>
          <a:xfrm>
            <a:off x="2286000" y="4572000"/>
            <a:ext cx="352425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Incorporates VOA Private Rental Market Statistics (2018-2019) for authoritative comparisons and benchmarking.</a:t>
            </a:r>
            <a:endParaRPr lang="en-US" sz="825"/>
          </a:p>
        </p:txBody>
      </p:sp>
      <p:sp>
        <p:nvSpPr>
          <p:cNvPr id="16" name="AutoShape 16"/>
          <p:cNvSpPr/>
          <p:nvPr/>
        </p:nvSpPr>
        <p:spPr>
          <a:xfrm>
            <a:off x="6191250" y="4048125"/>
            <a:ext cx="3905250" cy="1524000"/>
          </a:xfrm>
          <a:prstGeom prst="roundRect">
            <a:avLst>
              <a:gd name="adj" fmla="val 6250"/>
            </a:avLst>
          </a:prstGeom>
          <a:solidFill>
            <a:srgbClr val="FFFFFF">
              <a:alpha val="10000"/>
            </a:srgbClr>
          </a:solidFill>
          <a:ln w="12700" cap="flat" cmpd="sng">
            <a:solidFill>
              <a:srgbClr val="42A5F5">
                <a:alpha val="30000"/>
              </a:srgbClr>
            </a:solidFill>
            <a:prstDash val="solid"/>
            <a:round/>
          </a:ln>
        </p:spPr>
        <p:txBody>
          <a:bodyPr vert="horz" wrap="square" lIns="47625" tIns="47625" rIns="47625" bIns="47625" rtlCol="0" anchor="ctr"/>
          <a:lstStyle/>
          <a:p>
            <a:pPr algn="ctr">
              <a:defRPr/>
            </a:pPr>
            <a:endParaRPr sz="1050"/>
          </a:p>
        </p:txBody>
      </p:sp>
      <p:pic>
        <p:nvPicPr>
          <p:cNvPr id="17" name="Picture 17"/>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381750" y="4238625"/>
            <a:ext cx="304800" cy="304800"/>
          </a:xfrm>
          <a:prstGeom prst="rect">
            <a:avLst/>
          </a:prstGeom>
        </p:spPr>
      </p:pic>
      <p:sp>
        <p:nvSpPr>
          <p:cNvPr id="18" name="AutoShape 18"/>
          <p:cNvSpPr/>
          <p:nvPr/>
        </p:nvSpPr>
        <p:spPr>
          <a:xfrm>
            <a:off x="6762750" y="4238625"/>
            <a:ext cx="3238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42A5F5"/>
                </a:solidFill>
                <a:latin typeface="Noto Sans SC" panose="020B0200000000000000" charset="-122"/>
                <a:ea typeface="Noto Sans SC" panose="020B0200000000000000" charset="-122"/>
                <a:cs typeface="Noto Sans SC" panose="020B0200000000000000" charset="-122"/>
                <a:sym typeface="Noto Sans SC" panose="020B0200000000000000" charset="-122"/>
              </a:rPr>
              <a:t>Key Deliverables</a:t>
            </a:r>
            <a:endParaRPr lang="en-US" sz="825"/>
          </a:p>
        </p:txBody>
      </p:sp>
      <p:sp>
        <p:nvSpPr>
          <p:cNvPr id="19" name="AutoShape 19"/>
          <p:cNvSpPr/>
          <p:nvPr/>
        </p:nvSpPr>
        <p:spPr>
          <a:xfrm>
            <a:off x="6381750" y="4572000"/>
            <a:ext cx="352425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Complete package including a public GitHub repo, Swagger API documentation, a detailed technical report, and this presentation.</a:t>
            </a:r>
            <a:endParaRPr lang="en-US" sz="82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47A1">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1524000" y="857250"/>
            <a:ext cx="9144000" cy="5143500"/>
          </a:xfrm>
          <a:prstGeom prst="roundRect">
            <a:avLst>
              <a:gd name="adj" fmla="val 0"/>
            </a:avLst>
          </a:prstGeom>
          <a:solidFill>
            <a:srgbClr val="0D47A1">
              <a:alpha val="90000"/>
            </a:srgbClr>
          </a:solidFill>
          <a:ln w="25400" cap="flat" cmpd="sng">
            <a:noFill/>
            <a:prstDash val="solid"/>
            <a:round/>
          </a:ln>
        </p:spPr>
        <p:txBody>
          <a:bodyPr vert="horz" wrap="square" lIns="47625" tIns="47625" rIns="47625" bIns="47625" rtlCol="0" anchor="ctr"/>
          <a:lstStyle/>
          <a:p>
            <a:pPr algn="ctr">
              <a:defRPr/>
            </a:pPr>
            <a:endParaRPr sz="1050"/>
          </a:p>
        </p:txBody>
      </p:sp>
      <p:sp>
        <p:nvSpPr>
          <p:cNvPr id="3" name="AutoShape 3"/>
          <p:cNvSpPr/>
          <p:nvPr/>
        </p:nvSpPr>
        <p:spPr>
          <a:xfrm>
            <a:off x="2095500" y="1428750"/>
            <a:ext cx="8001000" cy="4762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7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Architecture &amp; Module Structure</a:t>
            </a:r>
            <a:endParaRPr lang="en-US" sz="825"/>
          </a:p>
        </p:txBody>
      </p:sp>
      <p:sp>
        <p:nvSpPr>
          <p:cNvPr id="4" name="AutoShape 4"/>
          <p:cNvSpPr/>
          <p:nvPr/>
        </p:nvSpPr>
        <p:spPr>
          <a:xfrm>
            <a:off x="2095500" y="2190750"/>
            <a:ext cx="3810000" cy="3238500"/>
          </a:xfrm>
          <a:prstGeom prst="roundRect">
            <a:avLst>
              <a:gd name="adj" fmla="val 2941"/>
            </a:avLst>
          </a:prstGeom>
          <a:solidFill>
            <a:srgbClr val="FFFFFF">
              <a:alpha val="10000"/>
            </a:srgbClr>
          </a:solidFill>
          <a:ln w="12700" cap="flat" cmpd="sng">
            <a:solidFill>
              <a:srgbClr val="42A5F5">
                <a:alpha val="30000"/>
              </a:srgbClr>
            </a:solidFill>
            <a:prstDash val="solid"/>
            <a:round/>
          </a:ln>
        </p:spPr>
        <p:txBody>
          <a:bodyPr vert="horz" wrap="square" lIns="47625" tIns="47625" rIns="47625" bIns="47625" rtlCol="0" anchor="ctr"/>
          <a:lstStyle/>
          <a:p>
            <a:pPr algn="ctr">
              <a:defRPr/>
            </a:pPr>
            <a:endParaRPr sz="1050"/>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286000" y="2381250"/>
            <a:ext cx="228600" cy="228600"/>
          </a:xfrm>
          <a:prstGeom prst="rect">
            <a:avLst/>
          </a:prstGeom>
        </p:spPr>
      </p:pic>
      <p:sp>
        <p:nvSpPr>
          <p:cNvPr id="6" name="AutoShape 6"/>
          <p:cNvSpPr/>
          <p:nvPr/>
        </p:nvSpPr>
        <p:spPr>
          <a:xfrm>
            <a:off x="2571750" y="2362200"/>
            <a:ext cx="2857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42A5F5"/>
                </a:solidFill>
                <a:latin typeface="Noto Sans SC" panose="020B0200000000000000" charset="-122"/>
                <a:ea typeface="Noto Sans SC" panose="020B0200000000000000" charset="-122"/>
                <a:cs typeface="Noto Sans SC" panose="020B0200000000000000" charset="-122"/>
                <a:sym typeface="Noto Sans SC" panose="020B0200000000000000" charset="-122"/>
              </a:rPr>
              <a:t>Core Tech Stack</a:t>
            </a:r>
            <a:endParaRPr lang="en-US" sz="825"/>
          </a:p>
        </p:txBody>
      </p:sp>
      <p:cxnSp>
        <p:nvCxnSpPr>
          <p:cNvPr id="7" name="Connector 7"/>
          <p:cNvCxnSpPr/>
          <p:nvPr/>
        </p:nvCxnSpPr>
        <p:spPr>
          <a:xfrm rot="-9549">
            <a:off x="2286007" y="2662238"/>
            <a:ext cx="3429000" cy="9525"/>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2857500"/>
            <a:ext cx="190500" cy="190500"/>
          </a:xfrm>
          <a:prstGeom prst="rect">
            <a:avLst/>
          </a:prstGeom>
        </p:spPr>
      </p:pic>
      <p:sp>
        <p:nvSpPr>
          <p:cNvPr id="9" name="AutoShape 9"/>
          <p:cNvSpPr/>
          <p:nvPr/>
        </p:nvSpPr>
        <p:spPr>
          <a:xfrm>
            <a:off x="2571750" y="2838450"/>
            <a:ext cx="32385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FastAPI Framework</a:t>
            </a:r>
            <a:endParaRPr lang="en-US" sz="825"/>
          </a:p>
          <a:p>
            <a:pPr indent="0" algn="l">
              <a:lnSpc>
                <a:spcPct val="125000"/>
              </a:lnSpc>
            </a:pPr>
            <a:r>
              <a:rPr lang="en-US" sz="105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High performance with automatic OpenAPI documentation.</a:t>
            </a:r>
            <a:endParaRPr lang="en-US" sz="105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286000" y="3476625"/>
            <a:ext cx="190500" cy="190500"/>
          </a:xfrm>
          <a:prstGeom prst="rect">
            <a:avLst/>
          </a:prstGeom>
        </p:spPr>
      </p:pic>
      <p:sp>
        <p:nvSpPr>
          <p:cNvPr id="11" name="AutoShape 11"/>
          <p:cNvSpPr/>
          <p:nvPr/>
        </p:nvSpPr>
        <p:spPr>
          <a:xfrm>
            <a:off x="2571750" y="3457575"/>
            <a:ext cx="32385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SQLAlchemy &amp; SQLite</a:t>
            </a:r>
            <a:endParaRPr lang="en-US" sz="825"/>
          </a:p>
          <a:p>
            <a:pPr indent="0" algn="l">
              <a:lnSpc>
                <a:spcPct val="125000"/>
              </a:lnSpc>
            </a:pPr>
            <a:r>
              <a:rPr lang="en-US" sz="105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Lightweight ORM with file-based storage for easy demonstration.</a:t>
            </a:r>
            <a:endParaRPr lang="en-US" sz="105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2"/>
          <p:cNvSpPr/>
          <p:nvPr/>
        </p:nvSpPr>
        <p:spPr>
          <a:xfrm>
            <a:off x="6096000" y="2190750"/>
            <a:ext cx="3810000" cy="3238500"/>
          </a:xfrm>
          <a:prstGeom prst="roundRect">
            <a:avLst>
              <a:gd name="adj" fmla="val 2941"/>
            </a:avLst>
          </a:prstGeom>
          <a:solidFill>
            <a:srgbClr val="FFFFFF">
              <a:alpha val="10000"/>
            </a:srgbClr>
          </a:solidFill>
          <a:ln w="12700" cap="flat" cmpd="sng">
            <a:solidFill>
              <a:srgbClr val="42A5F5">
                <a:alpha val="30000"/>
              </a:srgbClr>
            </a:solidFill>
            <a:prstDash val="solid"/>
            <a:round/>
          </a:ln>
        </p:spPr>
        <p:txBody>
          <a:bodyPr vert="horz" wrap="square" lIns="47625" tIns="47625" rIns="47625" bIns="47625" rtlCol="0" anchor="ctr"/>
          <a:lstStyle/>
          <a:p>
            <a:pPr algn="ctr">
              <a:defRPr/>
            </a:pPr>
            <a:endParaRPr sz="1050"/>
          </a:p>
        </p:txBody>
      </p:sp>
      <p:pic>
        <p:nvPicPr>
          <p:cNvPr id="13" name="Picture 13"/>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286500" y="2381250"/>
            <a:ext cx="228600" cy="228600"/>
          </a:xfrm>
          <a:prstGeom prst="rect">
            <a:avLst/>
          </a:prstGeom>
        </p:spPr>
      </p:pic>
      <p:sp>
        <p:nvSpPr>
          <p:cNvPr id="14" name="AutoShape 14"/>
          <p:cNvSpPr/>
          <p:nvPr/>
        </p:nvSpPr>
        <p:spPr>
          <a:xfrm>
            <a:off x="6572250" y="2362200"/>
            <a:ext cx="2857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42A5F5"/>
                </a:solidFill>
                <a:latin typeface="Noto Sans SC" panose="020B0200000000000000" charset="-122"/>
                <a:ea typeface="Noto Sans SC" panose="020B0200000000000000" charset="-122"/>
                <a:cs typeface="Noto Sans SC" panose="020B0200000000000000" charset="-122"/>
                <a:sym typeface="Noto Sans SC" panose="020B0200000000000000" charset="-122"/>
              </a:rPr>
              <a:t>Project Module Layout</a:t>
            </a:r>
            <a:endParaRPr lang="en-US" sz="825"/>
          </a:p>
        </p:txBody>
      </p:sp>
      <p:cxnSp>
        <p:nvCxnSpPr>
          <p:cNvPr id="15" name="Connector 15"/>
          <p:cNvCxnSpPr/>
          <p:nvPr/>
        </p:nvCxnSpPr>
        <p:spPr>
          <a:xfrm rot="-9549">
            <a:off x="6286507" y="2662238"/>
            <a:ext cx="3429000" cy="9525"/>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pic>
        <p:nvPicPr>
          <p:cNvPr id="16" name="Picture 16"/>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286500" y="2857500"/>
            <a:ext cx="171450" cy="171450"/>
          </a:xfrm>
          <a:prstGeom prst="rect">
            <a:avLst/>
          </a:prstGeom>
        </p:spPr>
      </p:pic>
      <p:sp>
        <p:nvSpPr>
          <p:cNvPr id="17" name="AutoShape 17"/>
          <p:cNvSpPr/>
          <p:nvPr/>
        </p:nvSpPr>
        <p:spPr>
          <a:xfrm>
            <a:off x="6524625" y="2838450"/>
            <a:ext cx="3238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25"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main.py</a:t>
            </a:r>
            <a:r>
              <a:rPr lang="en-US" sz="105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 Entry point &amp; Router registration</a:t>
            </a:r>
            <a:endParaRPr lang="en-US" sz="825"/>
          </a:p>
        </p:txBody>
      </p:sp>
      <p:pic>
        <p:nvPicPr>
          <p:cNvPr id="18" name="Picture 18"/>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286500" y="3238500"/>
            <a:ext cx="171450" cy="171450"/>
          </a:xfrm>
          <a:prstGeom prst="rect">
            <a:avLst/>
          </a:prstGeom>
        </p:spPr>
      </p:pic>
      <p:sp>
        <p:nvSpPr>
          <p:cNvPr id="19" name="AutoShape 19"/>
          <p:cNvSpPr/>
          <p:nvPr/>
        </p:nvSpPr>
        <p:spPr>
          <a:xfrm>
            <a:off x="6524625" y="3219450"/>
            <a:ext cx="3238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25"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models.py</a:t>
            </a:r>
            <a:r>
              <a:rPr lang="en-US" sz="105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 DB schema definitions (Areas, Listings)</a:t>
            </a:r>
            <a:endParaRPr lang="en-US" sz="825"/>
          </a:p>
        </p:txBody>
      </p:sp>
      <p:pic>
        <p:nvPicPr>
          <p:cNvPr id="20" name="Picture 20"/>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286500" y="3619500"/>
            <a:ext cx="171450" cy="171450"/>
          </a:xfrm>
          <a:prstGeom prst="rect">
            <a:avLst/>
          </a:prstGeom>
        </p:spPr>
      </p:pic>
      <p:sp>
        <p:nvSpPr>
          <p:cNvPr id="21" name="AutoShape 21"/>
          <p:cNvSpPr/>
          <p:nvPr/>
        </p:nvSpPr>
        <p:spPr>
          <a:xfrm>
            <a:off x="6524625" y="3600450"/>
            <a:ext cx="3238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25"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schemas.py</a:t>
            </a:r>
            <a:r>
              <a:rPr lang="en-US" sz="105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 Pydantic models for data validation</a:t>
            </a:r>
            <a:endParaRPr lang="en-US" sz="825"/>
          </a:p>
        </p:txBody>
      </p:sp>
      <p:pic>
        <p:nvPicPr>
          <p:cNvPr id="22" name="Picture 22"/>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286500" y="4000500"/>
            <a:ext cx="171450" cy="171450"/>
          </a:xfrm>
          <a:prstGeom prst="rect">
            <a:avLst/>
          </a:prstGeom>
        </p:spPr>
      </p:pic>
      <p:sp>
        <p:nvSpPr>
          <p:cNvPr id="23" name="AutoShape 23"/>
          <p:cNvSpPr/>
          <p:nvPr/>
        </p:nvSpPr>
        <p:spPr>
          <a:xfrm>
            <a:off x="6524625" y="3981450"/>
            <a:ext cx="3238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25"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routers/</a:t>
            </a:r>
            <a:r>
              <a:rPr lang="en-US" sz="105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 Modular API endpoints (listings, analytics)</a:t>
            </a:r>
            <a:endParaRPr lang="en-US" sz="825"/>
          </a:p>
        </p:txBody>
      </p:sp>
      <p:pic>
        <p:nvPicPr>
          <p:cNvPr id="24" name="Picture 24"/>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286500" y="4381500"/>
            <a:ext cx="171450" cy="171450"/>
          </a:xfrm>
          <a:prstGeom prst="rect">
            <a:avLst/>
          </a:prstGeom>
        </p:spPr>
      </p:pic>
      <p:sp>
        <p:nvSpPr>
          <p:cNvPr id="25" name="AutoShape 25"/>
          <p:cNvSpPr/>
          <p:nvPr/>
        </p:nvSpPr>
        <p:spPr>
          <a:xfrm>
            <a:off x="6524625" y="4362450"/>
            <a:ext cx="3238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25"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scripts/</a:t>
            </a:r>
            <a:r>
              <a:rPr lang="en-US" sz="1050" b="0" i="0" u="none" strike="noStrike">
                <a:solidFill>
                  <a:srgbClr val="FFFFFF">
                    <a:alpha val="7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 Utilities for data import &amp; checks</a:t>
            </a:r>
            <a:endParaRPr lang="en-US" sz="82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47A1">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1524000" y="857250"/>
            <a:ext cx="9144000" cy="5143500"/>
          </a:xfrm>
          <a:prstGeom prst="roundRect">
            <a:avLst>
              <a:gd name="adj" fmla="val 0"/>
            </a:avLst>
          </a:prstGeom>
          <a:solidFill>
            <a:srgbClr val="0D47A1">
              <a:alpha val="90000"/>
            </a:srgbClr>
          </a:solidFill>
          <a:ln w="25400" cap="flat" cmpd="sng">
            <a:noFill/>
            <a:prstDash val="solid"/>
            <a:round/>
          </a:ln>
        </p:spPr>
        <p:txBody>
          <a:bodyPr vert="horz" wrap="square" lIns="47625" tIns="47625" rIns="47625" bIns="47625" rtlCol="0" anchor="ctr"/>
          <a:lstStyle/>
          <a:p>
            <a:pPr algn="ctr">
              <a:defRPr/>
            </a:pPr>
            <a:endParaRPr sz="1050"/>
          </a:p>
        </p:txBody>
      </p:sp>
      <p:sp>
        <p:nvSpPr>
          <p:cNvPr id="3" name="AutoShape 3"/>
          <p:cNvSpPr/>
          <p:nvPr/>
        </p:nvSpPr>
        <p:spPr>
          <a:xfrm>
            <a:off x="2095500" y="1428750"/>
            <a:ext cx="5715000" cy="4762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7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Data Model</a:t>
            </a:r>
            <a:endParaRPr lang="en-US" sz="825"/>
          </a:p>
        </p:txBody>
      </p:sp>
      <p:sp>
        <p:nvSpPr>
          <p:cNvPr id="4" name="AutoShape 4"/>
          <p:cNvSpPr/>
          <p:nvPr/>
        </p:nvSpPr>
        <p:spPr>
          <a:xfrm>
            <a:off x="2095500" y="2190750"/>
            <a:ext cx="2476500" cy="2667000"/>
          </a:xfrm>
          <a:prstGeom prst="roundRect">
            <a:avLst>
              <a:gd name="adj" fmla="val 3846"/>
            </a:avLst>
          </a:prstGeom>
          <a:solidFill>
            <a:srgbClr val="FFFFFF">
              <a:alpha val="10000"/>
            </a:srgbClr>
          </a:solidFill>
          <a:ln w="12700" cap="flat" cmpd="sng">
            <a:solidFill>
              <a:srgbClr val="42A5F5">
                <a:alpha val="50000"/>
              </a:srgbClr>
            </a:solidFill>
            <a:prstDash val="solid"/>
            <a:round/>
          </a:ln>
        </p:spPr>
        <p:txBody>
          <a:bodyPr vert="horz" wrap="square" lIns="47625" tIns="47625" rIns="47625" bIns="47625" rtlCol="0" anchor="ctr"/>
          <a:lstStyle/>
          <a:p>
            <a:pPr algn="ctr">
              <a:defRPr/>
            </a:pPr>
            <a:endParaRPr sz="1050"/>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286000" y="2381250"/>
            <a:ext cx="304800" cy="304800"/>
          </a:xfrm>
          <a:prstGeom prst="rect">
            <a:avLst/>
          </a:prstGeom>
        </p:spPr>
      </p:pic>
      <p:sp>
        <p:nvSpPr>
          <p:cNvPr id="6" name="AutoShape 6"/>
          <p:cNvSpPr/>
          <p:nvPr/>
        </p:nvSpPr>
        <p:spPr>
          <a:xfrm>
            <a:off x="2286000" y="2762250"/>
            <a:ext cx="2095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Areas Table</a:t>
            </a:r>
            <a:endParaRPr lang="en-US" sz="825"/>
          </a:p>
        </p:txBody>
      </p:sp>
      <p:cxnSp>
        <p:nvCxnSpPr>
          <p:cNvPr id="7" name="Connector 7"/>
          <p:cNvCxnSpPr/>
          <p:nvPr/>
        </p:nvCxnSpPr>
        <p:spPr>
          <a:xfrm rot="-15626">
            <a:off x="2286011" y="3090863"/>
            <a:ext cx="2095500" cy="9525"/>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sp>
        <p:nvSpPr>
          <p:cNvPr id="8" name="AutoShape 8"/>
          <p:cNvSpPr/>
          <p:nvPr/>
        </p:nvSpPr>
        <p:spPr>
          <a:xfrm>
            <a:off x="2286000" y="3190875"/>
            <a:ext cx="2095500" cy="142875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FFFFFF"/>
              </a:buClr>
              <a:buChar char="•"/>
              <a:defRPr/>
            </a:pPr>
            <a:r>
              <a:rPr lang="en-US" sz="105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Stores geographic data (name, postcode, city)</a:t>
            </a:r>
            <a:endParaRPr lang="en-US" sz="825"/>
          </a:p>
          <a:p>
            <a:pPr marL="177800" indent="-177800" algn="l">
              <a:lnSpc>
                <a:spcPct val="125000"/>
              </a:lnSpc>
              <a:buClr>
                <a:srgbClr val="FFFFFF"/>
              </a:buClr>
              <a:buChar char="•"/>
            </a:pPr>
            <a:r>
              <a:rPr lang="en-US" sz="105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Includes average income for affordability calculations</a:t>
            </a:r>
            <a:endParaRPr lang="en-US" sz="105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nvSpPr>
        <p:spPr>
          <a:xfrm>
            <a:off x="4857750" y="2190750"/>
            <a:ext cx="2476500" cy="2667000"/>
          </a:xfrm>
          <a:prstGeom prst="roundRect">
            <a:avLst>
              <a:gd name="adj" fmla="val 3846"/>
            </a:avLst>
          </a:prstGeom>
          <a:solidFill>
            <a:srgbClr val="FFFFFF">
              <a:alpha val="10000"/>
            </a:srgbClr>
          </a:solidFill>
          <a:ln w="12700" cap="flat" cmpd="sng">
            <a:solidFill>
              <a:srgbClr val="42A5F5">
                <a:alpha val="50000"/>
              </a:srgbClr>
            </a:solidFill>
            <a:prstDash val="solid"/>
            <a:round/>
          </a:ln>
        </p:spPr>
        <p:txBody>
          <a:bodyPr vert="horz" wrap="square" lIns="47625" tIns="47625" rIns="47625" bIns="47625" rtlCol="0" anchor="ctr"/>
          <a:lstStyle/>
          <a:p>
            <a:pPr algn="ctr">
              <a:defRPr/>
            </a:pPr>
            <a:endParaRPr sz="1050"/>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048250" y="2381250"/>
            <a:ext cx="304800" cy="304800"/>
          </a:xfrm>
          <a:prstGeom prst="rect">
            <a:avLst/>
          </a:prstGeom>
        </p:spPr>
      </p:pic>
      <p:sp>
        <p:nvSpPr>
          <p:cNvPr id="11" name="AutoShape 11"/>
          <p:cNvSpPr/>
          <p:nvPr/>
        </p:nvSpPr>
        <p:spPr>
          <a:xfrm>
            <a:off x="5048250" y="2762250"/>
            <a:ext cx="2095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Listings Table</a:t>
            </a:r>
            <a:endParaRPr lang="en-US" sz="825"/>
          </a:p>
        </p:txBody>
      </p:sp>
      <p:cxnSp>
        <p:nvCxnSpPr>
          <p:cNvPr id="12" name="Connector 12"/>
          <p:cNvCxnSpPr/>
          <p:nvPr/>
        </p:nvCxnSpPr>
        <p:spPr>
          <a:xfrm rot="-15626">
            <a:off x="5048261" y="3090863"/>
            <a:ext cx="2095500" cy="9525"/>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sp>
        <p:nvSpPr>
          <p:cNvPr id="13" name="AutoShape 13"/>
          <p:cNvSpPr/>
          <p:nvPr/>
        </p:nvSpPr>
        <p:spPr>
          <a:xfrm>
            <a:off x="5048250" y="3190875"/>
            <a:ext cx="2095500" cy="142875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FFFFFF"/>
              </a:buClr>
              <a:buChar char="•"/>
              <a:defRPr/>
            </a:pPr>
            <a:r>
              <a:rPr lang="en-US" sz="105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Contains user-submitted rental ads (rent, bedrooms, type)</a:t>
            </a:r>
            <a:endParaRPr lang="en-US" sz="825"/>
          </a:p>
          <a:p>
            <a:pPr marL="177800" indent="-177800" algn="l">
              <a:lnSpc>
                <a:spcPct val="125000"/>
              </a:lnSpc>
              <a:buClr>
                <a:srgbClr val="FFFFFF"/>
              </a:buClr>
              <a:buChar char="•"/>
            </a:pPr>
            <a:r>
              <a:rPr lang="en-US" sz="105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Linked to Areas via</a:t>
            </a:r>
            <a:r>
              <a:rPr lang="en-US" sz="1050" b="1"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area_id</a:t>
            </a:r>
            <a:r>
              <a:rPr lang="en-US" sz="105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foreign key</a:t>
            </a:r>
            <a:endParaRPr lang="en-US" sz="105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7620000" y="2190750"/>
            <a:ext cx="2476500" cy="2667000"/>
          </a:xfrm>
          <a:prstGeom prst="roundRect">
            <a:avLst>
              <a:gd name="adj" fmla="val 3846"/>
            </a:avLst>
          </a:prstGeom>
          <a:solidFill>
            <a:srgbClr val="FFFFFF">
              <a:alpha val="10000"/>
            </a:srgbClr>
          </a:solidFill>
          <a:ln w="12700" cap="flat" cmpd="sng">
            <a:solidFill>
              <a:srgbClr val="42A5F5">
                <a:alpha val="50000"/>
              </a:srgbClr>
            </a:solidFill>
            <a:prstDash val="solid"/>
            <a:round/>
          </a:ln>
        </p:spPr>
        <p:txBody>
          <a:bodyPr vert="horz" wrap="square" lIns="47625" tIns="47625" rIns="47625" bIns="47625" rtlCol="0" anchor="ctr"/>
          <a:lstStyle/>
          <a:p>
            <a:pPr algn="ctr">
              <a:defRPr/>
            </a:pPr>
            <a:endParaRPr sz="1050"/>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810500" y="2381250"/>
            <a:ext cx="304800" cy="304800"/>
          </a:xfrm>
          <a:prstGeom prst="rect">
            <a:avLst/>
          </a:prstGeom>
        </p:spPr>
      </p:pic>
      <p:sp>
        <p:nvSpPr>
          <p:cNvPr id="16" name="AutoShape 16"/>
          <p:cNvSpPr/>
          <p:nvPr/>
        </p:nvSpPr>
        <p:spPr>
          <a:xfrm>
            <a:off x="7810500" y="2762250"/>
            <a:ext cx="2095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OfficialRentStats</a:t>
            </a:r>
            <a:endParaRPr lang="en-US" sz="825"/>
          </a:p>
        </p:txBody>
      </p:sp>
      <p:cxnSp>
        <p:nvCxnSpPr>
          <p:cNvPr id="17" name="Connector 17"/>
          <p:cNvCxnSpPr/>
          <p:nvPr/>
        </p:nvCxnSpPr>
        <p:spPr>
          <a:xfrm rot="-15626">
            <a:off x="7810511" y="3090863"/>
            <a:ext cx="2095500" cy="9525"/>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sp>
        <p:nvSpPr>
          <p:cNvPr id="18" name="AutoShape 18"/>
          <p:cNvSpPr/>
          <p:nvPr/>
        </p:nvSpPr>
        <p:spPr>
          <a:xfrm>
            <a:off x="7810500" y="3190875"/>
            <a:ext cx="2095500" cy="142875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FFFFFF"/>
              </a:buClr>
              <a:buChar char="•"/>
              <a:defRPr/>
            </a:pPr>
            <a:r>
              <a:rPr lang="en-US" sz="105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Imported VOA PRMS data (median, mean, quartiles)</a:t>
            </a:r>
            <a:endParaRPr lang="en-US" sz="825"/>
          </a:p>
          <a:p>
            <a:pPr marL="177800" indent="-177800" algn="l">
              <a:lnSpc>
                <a:spcPct val="125000"/>
              </a:lnSpc>
              <a:buClr>
                <a:srgbClr val="FFFFFF"/>
              </a:buClr>
              <a:buChar char="•"/>
            </a:pPr>
            <a:r>
              <a:rPr lang="en-US" sz="105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Provides statistical benchmarks for analysis</a:t>
            </a:r>
            <a:endParaRPr lang="en-US" sz="1050" b="0" i="0" u="none" strike="noStrike">
              <a:solidFill>
                <a:srgbClr val="FFFFFF">
                  <a:alpha val="90196"/>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9" name="AutoShape 19"/>
          <p:cNvSpPr/>
          <p:nvPr/>
        </p:nvSpPr>
        <p:spPr>
          <a:xfrm>
            <a:off x="2095500" y="5048250"/>
            <a:ext cx="8001000" cy="571500"/>
          </a:xfrm>
          <a:prstGeom prst="roundRect">
            <a:avLst>
              <a:gd name="adj" fmla="val 16666"/>
            </a:avLst>
          </a:prstGeom>
          <a:solidFill>
            <a:srgbClr val="42A5F5">
              <a:alpha val="15000"/>
            </a:srgbClr>
          </a:solidFill>
          <a:ln w="12700" cap="flat" cmpd="sng">
            <a:solidFill>
              <a:srgbClr val="42A5F5">
                <a:alpha val="30000"/>
              </a:srgbClr>
            </a:solidFill>
            <a:prstDash val="solid"/>
            <a:round/>
          </a:ln>
        </p:spPr>
        <p:txBody>
          <a:bodyPr vert="horz" wrap="square" lIns="47625" tIns="47625" rIns="47625" bIns="47625" rtlCol="0" anchor="ctr"/>
          <a:lstStyle/>
          <a:p>
            <a:pPr algn="ctr">
              <a:defRPr/>
            </a:pPr>
            <a:endParaRPr sz="1050"/>
          </a:p>
        </p:txBody>
      </p:sp>
      <p:pic>
        <p:nvPicPr>
          <p:cNvPr id="20" name="Picture 20"/>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286000" y="5219700"/>
            <a:ext cx="228600" cy="228600"/>
          </a:xfrm>
          <a:prstGeom prst="rect">
            <a:avLst/>
          </a:prstGeom>
        </p:spPr>
      </p:pic>
      <p:sp>
        <p:nvSpPr>
          <p:cNvPr id="21" name="AutoShape 21"/>
          <p:cNvSpPr/>
          <p:nvPr/>
        </p:nvSpPr>
        <p:spPr>
          <a:xfrm>
            <a:off x="2571750" y="5191125"/>
            <a:ext cx="72390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Relationship:</a:t>
            </a:r>
            <a:r>
              <a:rPr lang="en-US" sz="12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Establishes a One-to-Many relationship between Areas and Listings.</a:t>
            </a:r>
            <a:endParaRPr lang="en-US" sz="82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47A1">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1524000" y="857250"/>
            <a:ext cx="9144000" cy="5143500"/>
          </a:xfrm>
          <a:prstGeom prst="roundRect">
            <a:avLst>
              <a:gd name="adj" fmla="val 0"/>
            </a:avLst>
          </a:prstGeom>
          <a:solidFill>
            <a:srgbClr val="0D47A1">
              <a:alpha val="90000"/>
            </a:srgbClr>
          </a:solidFill>
          <a:ln w="25400" cap="flat" cmpd="sng">
            <a:noFill/>
            <a:prstDash val="solid"/>
            <a:round/>
          </a:ln>
        </p:spPr>
        <p:txBody>
          <a:bodyPr vert="horz" wrap="square" lIns="47625" tIns="47625" rIns="47625" bIns="47625" rtlCol="0" anchor="ctr"/>
          <a:lstStyle/>
          <a:p>
            <a:pPr algn="ctr">
              <a:defRPr/>
            </a:pPr>
            <a:endParaRPr sz="1050"/>
          </a:p>
        </p:txBody>
      </p:sp>
      <p:sp>
        <p:nvSpPr>
          <p:cNvPr id="3" name="AutoShape 3"/>
          <p:cNvSpPr/>
          <p:nvPr/>
        </p:nvSpPr>
        <p:spPr>
          <a:xfrm>
            <a:off x="2095500" y="1619250"/>
            <a:ext cx="8001000" cy="4762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7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Core Features &amp; Demo</a:t>
            </a:r>
            <a:endParaRPr lang="en-US" sz="825"/>
          </a:p>
        </p:txBody>
      </p:sp>
      <p:sp>
        <p:nvSpPr>
          <p:cNvPr id="4" name="AutoShape 4"/>
          <p:cNvSpPr/>
          <p:nvPr/>
        </p:nvSpPr>
        <p:spPr>
          <a:xfrm>
            <a:off x="2095500" y="2381250"/>
            <a:ext cx="2476500" cy="2476500"/>
          </a:xfrm>
          <a:prstGeom prst="roundRect">
            <a:avLst>
              <a:gd name="adj" fmla="val 3846"/>
            </a:avLst>
          </a:prstGeom>
          <a:solidFill>
            <a:srgbClr val="FFFFFF">
              <a:alpha val="10000"/>
            </a:srgbClr>
          </a:solidFill>
          <a:ln w="12700" cap="flat" cmpd="sng">
            <a:solidFill>
              <a:srgbClr val="42A5F5">
                <a:alpha val="30000"/>
              </a:srgbClr>
            </a:solidFill>
            <a:prstDash val="solid"/>
            <a:round/>
          </a:ln>
        </p:spPr>
        <p:txBody>
          <a:bodyPr vert="horz" wrap="square" lIns="47625" tIns="47625" rIns="47625" bIns="47625" rtlCol="0" anchor="ctr"/>
          <a:lstStyle/>
          <a:p>
            <a:pPr algn="ctr">
              <a:defRPr/>
            </a:pPr>
            <a:endParaRPr sz="1050"/>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286000" y="2571750"/>
            <a:ext cx="304800" cy="304800"/>
          </a:xfrm>
          <a:prstGeom prst="rect">
            <a:avLst/>
          </a:prstGeom>
        </p:spPr>
      </p:pic>
      <p:sp>
        <p:nvSpPr>
          <p:cNvPr id="6" name="AutoShape 6"/>
          <p:cNvSpPr/>
          <p:nvPr/>
        </p:nvSpPr>
        <p:spPr>
          <a:xfrm>
            <a:off x="2286000" y="2952750"/>
            <a:ext cx="2095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CRUD Operations</a:t>
            </a:r>
            <a:endParaRPr lang="en-US" sz="825"/>
          </a:p>
        </p:txBody>
      </p:sp>
      <p:sp>
        <p:nvSpPr>
          <p:cNvPr id="7" name="AutoShape 7"/>
          <p:cNvSpPr/>
          <p:nvPr/>
        </p:nvSpPr>
        <p:spPr>
          <a:xfrm>
            <a:off x="2286000" y="3286125"/>
            <a:ext cx="20955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RESTful endpoints for managing listings and areas: Create, Read, Update, Delete.</a:t>
            </a:r>
            <a:endParaRPr lang="en-US" sz="825"/>
          </a:p>
        </p:txBody>
      </p:sp>
      <p:sp>
        <p:nvSpPr>
          <p:cNvPr id="8" name="AutoShape 8"/>
          <p:cNvSpPr/>
          <p:nvPr/>
        </p:nvSpPr>
        <p:spPr>
          <a:xfrm>
            <a:off x="4857750" y="2381250"/>
            <a:ext cx="2476500" cy="2476500"/>
          </a:xfrm>
          <a:prstGeom prst="roundRect">
            <a:avLst>
              <a:gd name="adj" fmla="val 3846"/>
            </a:avLst>
          </a:prstGeom>
          <a:solidFill>
            <a:srgbClr val="FFFFFF">
              <a:alpha val="10000"/>
            </a:srgbClr>
          </a:solidFill>
          <a:ln w="12700" cap="flat" cmpd="sng">
            <a:solidFill>
              <a:srgbClr val="42A5F5">
                <a:alpha val="30000"/>
              </a:srgbClr>
            </a:solidFill>
            <a:prstDash val="solid"/>
            <a:round/>
          </a:ln>
        </p:spPr>
        <p:txBody>
          <a:bodyPr vert="horz" wrap="square" lIns="47625" tIns="47625" rIns="47625" bIns="47625" rtlCol="0" anchor="ctr"/>
          <a:lstStyle/>
          <a:p>
            <a:pPr algn="ctr">
              <a:defRPr/>
            </a:pPr>
            <a:endParaRPr sz="1050"/>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048250" y="2571750"/>
            <a:ext cx="304800" cy="304800"/>
          </a:xfrm>
          <a:prstGeom prst="rect">
            <a:avLst/>
          </a:prstGeom>
        </p:spPr>
      </p:pic>
      <p:sp>
        <p:nvSpPr>
          <p:cNvPr id="10" name="AutoShape 10"/>
          <p:cNvSpPr/>
          <p:nvPr/>
        </p:nvSpPr>
        <p:spPr>
          <a:xfrm>
            <a:off x="5048250" y="2952750"/>
            <a:ext cx="2095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Analytics Insights</a:t>
            </a:r>
            <a:endParaRPr lang="en-US" sz="825"/>
          </a:p>
        </p:txBody>
      </p:sp>
      <p:sp>
        <p:nvSpPr>
          <p:cNvPr id="11" name="AutoShape 11"/>
          <p:cNvSpPr/>
          <p:nvPr/>
        </p:nvSpPr>
        <p:spPr>
          <a:xfrm>
            <a:off x="5048250" y="3286125"/>
            <a:ext cx="2095500" cy="1143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FFFFFF"/>
              </a:buClr>
              <a:buChar char="•"/>
              <a:defRPr/>
            </a:pPr>
            <a:r>
              <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Area rent stats (mean/median)</a:t>
            </a:r>
            <a:endParaRPr lang="en-US" sz="825"/>
          </a:p>
          <a:p>
            <a:pPr marL="177800" indent="-177800" algn="l">
              <a:lnSpc>
                <a:spcPct val="125000"/>
              </a:lnSpc>
              <a:buClr>
                <a:srgbClr val="FFFFFF"/>
              </a:buClr>
              <a:buChar char="•"/>
            </a:pPr>
            <a:r>
              <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Rent-to-income ratio analysis</a:t>
            </a:r>
            <a:endPar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2"/>
          <p:cNvSpPr/>
          <p:nvPr/>
        </p:nvSpPr>
        <p:spPr>
          <a:xfrm>
            <a:off x="7620000" y="2381250"/>
            <a:ext cx="2476500" cy="2476500"/>
          </a:xfrm>
          <a:prstGeom prst="roundRect">
            <a:avLst>
              <a:gd name="adj" fmla="val 3846"/>
            </a:avLst>
          </a:prstGeom>
          <a:solidFill>
            <a:srgbClr val="FFFFFF">
              <a:alpha val="10000"/>
            </a:srgbClr>
          </a:solidFill>
          <a:ln w="12700" cap="flat" cmpd="sng">
            <a:solidFill>
              <a:srgbClr val="42A5F5">
                <a:alpha val="30000"/>
              </a:srgbClr>
            </a:solidFill>
            <a:prstDash val="solid"/>
            <a:round/>
          </a:ln>
        </p:spPr>
        <p:txBody>
          <a:bodyPr vert="horz" wrap="square" lIns="47625" tIns="47625" rIns="47625" bIns="47625" rtlCol="0" anchor="ctr"/>
          <a:lstStyle/>
          <a:p>
            <a:pPr algn="ctr">
              <a:defRPr/>
            </a:pPr>
            <a:endParaRPr sz="1050"/>
          </a:p>
        </p:txBody>
      </p:sp>
      <p:pic>
        <p:nvPicPr>
          <p:cNvPr id="13" name="Picture 13"/>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810500" y="2571750"/>
            <a:ext cx="304800" cy="304800"/>
          </a:xfrm>
          <a:prstGeom prst="rect">
            <a:avLst/>
          </a:prstGeom>
        </p:spPr>
      </p:pic>
      <p:sp>
        <p:nvSpPr>
          <p:cNvPr id="14" name="AutoShape 14"/>
          <p:cNvSpPr/>
          <p:nvPr/>
        </p:nvSpPr>
        <p:spPr>
          <a:xfrm>
            <a:off x="7810500" y="2952750"/>
            <a:ext cx="2095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Official Stats</a:t>
            </a:r>
            <a:endParaRPr lang="en-US" sz="825"/>
          </a:p>
        </p:txBody>
      </p:sp>
      <p:sp>
        <p:nvSpPr>
          <p:cNvPr id="15" name="AutoShape 15"/>
          <p:cNvSpPr/>
          <p:nvPr/>
        </p:nvSpPr>
        <p:spPr>
          <a:xfrm>
            <a:off x="7810500" y="3286125"/>
            <a:ext cx="2095500" cy="1143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FFFFFF"/>
              </a:buClr>
              <a:buChar char="•"/>
              <a:defRPr/>
            </a:pPr>
            <a:r>
              <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Query imported VOA data</a:t>
            </a:r>
            <a:endParaRPr lang="en-US" sz="825"/>
          </a:p>
          <a:p>
            <a:pPr marL="177800" indent="-177800" algn="l">
              <a:lnSpc>
                <a:spcPct val="125000"/>
              </a:lnSpc>
              <a:buClr>
                <a:srgbClr val="FFFFFF"/>
              </a:buClr>
              <a:buChar char="•"/>
            </a:pPr>
            <a:r>
              <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Compare user data with official benchmarks</a:t>
            </a:r>
            <a:endPar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6" name="AutoShape 16"/>
          <p:cNvSpPr/>
          <p:nvPr/>
        </p:nvSpPr>
        <p:spPr>
          <a:xfrm>
            <a:off x="2095500" y="5048250"/>
            <a:ext cx="8001000" cy="571500"/>
          </a:xfrm>
          <a:prstGeom prst="roundRect">
            <a:avLst>
              <a:gd name="adj" fmla="val 16666"/>
            </a:avLst>
          </a:prstGeom>
          <a:solidFill>
            <a:srgbClr val="42A5F5">
              <a:alpha val="20000"/>
            </a:srgbClr>
          </a:solidFill>
          <a:ln w="12700" cap="flat" cmpd="sng">
            <a:solidFill>
              <a:srgbClr val="42A5F5">
                <a:alpha val="100000"/>
              </a:srgbClr>
            </a:solidFill>
            <a:prstDash val="solid"/>
            <a:round/>
          </a:ln>
        </p:spPr>
        <p:txBody>
          <a:bodyPr vert="horz" wrap="square" lIns="47625" tIns="47625" rIns="47625" bIns="47625" rtlCol="0" anchor="ctr"/>
          <a:lstStyle/>
          <a:p>
            <a:pPr algn="ctr">
              <a:defRPr/>
            </a:pPr>
            <a:endParaRPr sz="1050"/>
          </a:p>
        </p:txBody>
      </p:sp>
      <p:pic>
        <p:nvPicPr>
          <p:cNvPr id="17" name="Picture 17"/>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286000" y="5219700"/>
            <a:ext cx="228600" cy="228600"/>
          </a:xfrm>
          <a:prstGeom prst="rect">
            <a:avLst/>
          </a:prstGeom>
        </p:spPr>
      </p:pic>
      <p:sp>
        <p:nvSpPr>
          <p:cNvPr id="18" name="AutoShape 18"/>
          <p:cNvSpPr/>
          <p:nvPr/>
        </p:nvSpPr>
        <p:spPr>
          <a:xfrm>
            <a:off x="2619375" y="5191125"/>
            <a:ext cx="68580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Demo: Access interactive documentation at</a:t>
            </a:r>
            <a:r>
              <a:rPr lang="en-US" sz="1200" b="1" i="0" u="none" strike="noStrike">
                <a:solidFill>
                  <a:srgbClr val="42A5F5"/>
                </a:solidFill>
                <a:latin typeface="Noto Sans SC" panose="020B0200000000000000" charset="-122"/>
                <a:ea typeface="Noto Sans SC" panose="020B0200000000000000" charset="-122"/>
                <a:cs typeface="Noto Sans SC" panose="020B0200000000000000" charset="-122"/>
                <a:sym typeface="Noto Sans SC" panose="020B0200000000000000" charset="-122"/>
              </a:rPr>
              <a:t>http://127.0.0.1:8000/docs</a:t>
            </a:r>
            <a:endParaRPr lang="en-US" sz="82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47A1">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1524000" y="857250"/>
            <a:ext cx="9144000" cy="5143500"/>
          </a:xfrm>
          <a:prstGeom prst="roundRect">
            <a:avLst>
              <a:gd name="adj" fmla="val 0"/>
            </a:avLst>
          </a:prstGeom>
          <a:solidFill>
            <a:srgbClr val="0D47A1">
              <a:alpha val="85000"/>
            </a:srgbClr>
          </a:solidFill>
          <a:ln w="25400" cap="flat" cmpd="sng">
            <a:noFill/>
            <a:prstDash val="solid"/>
            <a:round/>
          </a:ln>
        </p:spPr>
        <p:txBody>
          <a:bodyPr vert="horz" wrap="square" lIns="47625" tIns="47625" rIns="47625" bIns="47625" rtlCol="0" anchor="ctr"/>
          <a:lstStyle/>
          <a:p>
            <a:pPr algn="ctr">
              <a:defRPr/>
            </a:pPr>
            <a:endParaRPr sz="1050"/>
          </a:p>
        </p:txBody>
      </p:sp>
      <p:sp>
        <p:nvSpPr>
          <p:cNvPr id="3" name="AutoShape 3"/>
          <p:cNvSpPr/>
          <p:nvPr/>
        </p:nvSpPr>
        <p:spPr>
          <a:xfrm>
            <a:off x="2095500" y="1619250"/>
            <a:ext cx="8001000" cy="4762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7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Technology Choices &amp; Justification</a:t>
            </a:r>
            <a:endParaRPr lang="en-US" sz="825"/>
          </a:p>
        </p:txBody>
      </p:sp>
      <p:sp>
        <p:nvSpPr>
          <p:cNvPr id="4" name="AutoShape 4"/>
          <p:cNvSpPr/>
          <p:nvPr/>
        </p:nvSpPr>
        <p:spPr>
          <a:xfrm>
            <a:off x="2095500" y="2381250"/>
            <a:ext cx="2476500" cy="2857500"/>
          </a:xfrm>
          <a:prstGeom prst="roundRect">
            <a:avLst>
              <a:gd name="adj" fmla="val 3846"/>
            </a:avLst>
          </a:prstGeom>
          <a:solidFill>
            <a:srgbClr val="FFFFFF">
              <a:alpha val="10000"/>
            </a:srgbClr>
          </a:solidFill>
          <a:ln w="12700" cap="flat" cmpd="sng">
            <a:solidFill>
              <a:srgbClr val="42A5F5">
                <a:alpha val="50000"/>
              </a:srgbClr>
            </a:solidFill>
            <a:prstDash val="solid"/>
            <a:round/>
          </a:ln>
        </p:spPr>
        <p:txBody>
          <a:bodyPr vert="horz" wrap="square" lIns="47625" tIns="47625" rIns="47625" bIns="47625" rtlCol="0" anchor="ctr"/>
          <a:lstStyle/>
          <a:p>
            <a:pPr algn="ctr">
              <a:defRPr/>
            </a:pPr>
            <a:endParaRPr sz="1050"/>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286000" y="2571750"/>
            <a:ext cx="457200" cy="457200"/>
          </a:xfrm>
          <a:prstGeom prst="rect">
            <a:avLst/>
          </a:prstGeom>
        </p:spPr>
      </p:pic>
      <p:sp>
        <p:nvSpPr>
          <p:cNvPr id="6" name="AutoShape 6"/>
          <p:cNvSpPr/>
          <p:nvPr/>
        </p:nvSpPr>
        <p:spPr>
          <a:xfrm>
            <a:off x="2286000" y="3095625"/>
            <a:ext cx="2095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FastAPI</a:t>
            </a:r>
            <a:endParaRPr lang="en-US" sz="825"/>
          </a:p>
        </p:txBody>
      </p:sp>
      <p:sp>
        <p:nvSpPr>
          <p:cNvPr id="7" name="AutoShape 7"/>
          <p:cNvSpPr/>
          <p:nvPr/>
        </p:nvSpPr>
        <p:spPr>
          <a:xfrm>
            <a:off x="2286000" y="3429000"/>
            <a:ext cx="2095500" cy="1524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Chosen for automatic request validation (Pydantic), high performance (ASGI), and auto-generated Swagger docs, reducing development time significantly.</a:t>
            </a:r>
            <a:endParaRPr lang="en-US" sz="825"/>
          </a:p>
        </p:txBody>
      </p:sp>
      <p:sp>
        <p:nvSpPr>
          <p:cNvPr id="8" name="AutoShape 8"/>
          <p:cNvSpPr/>
          <p:nvPr/>
        </p:nvSpPr>
        <p:spPr>
          <a:xfrm>
            <a:off x="4857750" y="2381250"/>
            <a:ext cx="2476500" cy="2857500"/>
          </a:xfrm>
          <a:prstGeom prst="roundRect">
            <a:avLst>
              <a:gd name="adj" fmla="val 3846"/>
            </a:avLst>
          </a:prstGeom>
          <a:solidFill>
            <a:srgbClr val="FFFFFF">
              <a:alpha val="10000"/>
            </a:srgbClr>
          </a:solidFill>
          <a:ln w="12700" cap="flat" cmpd="sng">
            <a:solidFill>
              <a:srgbClr val="42A5F5">
                <a:alpha val="50000"/>
              </a:srgbClr>
            </a:solidFill>
            <a:prstDash val="solid"/>
            <a:round/>
          </a:ln>
        </p:spPr>
        <p:txBody>
          <a:bodyPr vert="horz" wrap="square" lIns="47625" tIns="47625" rIns="47625" bIns="47625" rtlCol="0" anchor="ctr"/>
          <a:lstStyle/>
          <a:p>
            <a:pPr algn="ctr">
              <a:defRPr/>
            </a:pPr>
            <a:endParaRPr sz="1050"/>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048250" y="2571750"/>
            <a:ext cx="457200" cy="457200"/>
          </a:xfrm>
          <a:prstGeom prst="rect">
            <a:avLst/>
          </a:prstGeom>
        </p:spPr>
      </p:pic>
      <p:sp>
        <p:nvSpPr>
          <p:cNvPr id="10" name="AutoShape 10"/>
          <p:cNvSpPr/>
          <p:nvPr/>
        </p:nvSpPr>
        <p:spPr>
          <a:xfrm>
            <a:off x="5048250" y="3095625"/>
            <a:ext cx="2095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SQLAlchemy + SQLite</a:t>
            </a:r>
            <a:endParaRPr lang="en-US" sz="825"/>
          </a:p>
        </p:txBody>
      </p:sp>
      <p:sp>
        <p:nvSpPr>
          <p:cNvPr id="11" name="AutoShape 11"/>
          <p:cNvSpPr/>
          <p:nvPr/>
        </p:nvSpPr>
        <p:spPr>
          <a:xfrm>
            <a:off x="5048250" y="3429000"/>
            <a:ext cx="2095500" cy="1524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SQLAlchemy provides a clean ORM layer. SQLite is ideal for coursework as it's file-based, requires no server setup, and is easily portable.</a:t>
            </a:r>
            <a:endParaRPr lang="en-US" sz="825"/>
          </a:p>
        </p:txBody>
      </p:sp>
      <p:sp>
        <p:nvSpPr>
          <p:cNvPr id="12" name="AutoShape 12"/>
          <p:cNvSpPr/>
          <p:nvPr/>
        </p:nvSpPr>
        <p:spPr>
          <a:xfrm>
            <a:off x="7620000" y="2381250"/>
            <a:ext cx="2476500" cy="2857500"/>
          </a:xfrm>
          <a:prstGeom prst="roundRect">
            <a:avLst>
              <a:gd name="adj" fmla="val 3846"/>
            </a:avLst>
          </a:prstGeom>
          <a:solidFill>
            <a:srgbClr val="FFFFFF">
              <a:alpha val="10000"/>
            </a:srgbClr>
          </a:solidFill>
          <a:ln w="12700" cap="flat" cmpd="sng">
            <a:solidFill>
              <a:srgbClr val="42A5F5">
                <a:alpha val="50000"/>
              </a:srgbClr>
            </a:solidFill>
            <a:prstDash val="solid"/>
            <a:round/>
          </a:ln>
        </p:spPr>
        <p:txBody>
          <a:bodyPr vert="horz" wrap="square" lIns="47625" tIns="47625" rIns="47625" bIns="47625" rtlCol="0" anchor="ctr"/>
          <a:lstStyle/>
          <a:p>
            <a:pPr algn="ctr">
              <a:defRPr/>
            </a:pPr>
            <a:endParaRPr sz="1050"/>
          </a:p>
        </p:txBody>
      </p:sp>
      <p:pic>
        <p:nvPicPr>
          <p:cNvPr id="13" name="Picture 13"/>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810500" y="2571750"/>
            <a:ext cx="457200" cy="457200"/>
          </a:xfrm>
          <a:prstGeom prst="rect">
            <a:avLst/>
          </a:prstGeom>
        </p:spPr>
      </p:pic>
      <p:sp>
        <p:nvSpPr>
          <p:cNvPr id="14" name="AutoShape 14"/>
          <p:cNvSpPr/>
          <p:nvPr/>
        </p:nvSpPr>
        <p:spPr>
          <a:xfrm>
            <a:off x="7810500" y="3095625"/>
            <a:ext cx="2095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pandas + xlrd</a:t>
            </a:r>
            <a:endParaRPr lang="en-US" sz="825"/>
          </a:p>
        </p:txBody>
      </p:sp>
      <p:sp>
        <p:nvSpPr>
          <p:cNvPr id="15" name="AutoShape 15"/>
          <p:cNvSpPr/>
          <p:nvPr/>
        </p:nvSpPr>
        <p:spPr>
          <a:xfrm>
            <a:off x="7810500" y="3429000"/>
            <a:ext cx="2095500" cy="1524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Used to parse the legacy .xls format of the VOA dataset and import it into the relational database, enabling efficient querying.</a:t>
            </a:r>
            <a:endParaRPr lang="en-US" sz="82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47A1">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1524000" y="857250"/>
            <a:ext cx="9144000" cy="5143500"/>
          </a:xfrm>
          <a:prstGeom prst="roundRect">
            <a:avLst>
              <a:gd name="adj" fmla="val 0"/>
            </a:avLst>
          </a:prstGeom>
          <a:solidFill>
            <a:srgbClr val="0D47A1">
              <a:alpha val="85000"/>
            </a:srgbClr>
          </a:solidFill>
          <a:ln w="25400" cap="flat" cmpd="sng">
            <a:noFill/>
            <a:prstDash val="solid"/>
            <a:round/>
          </a:ln>
        </p:spPr>
        <p:txBody>
          <a:bodyPr vert="horz" wrap="square" lIns="47625" tIns="47625" rIns="47625" bIns="47625" rtlCol="0" anchor="ctr"/>
          <a:lstStyle/>
          <a:p>
            <a:pPr algn="ctr">
              <a:defRPr/>
            </a:pPr>
            <a:endParaRPr sz="1050"/>
          </a:p>
        </p:txBody>
      </p:sp>
      <p:sp>
        <p:nvSpPr>
          <p:cNvPr id="3" name="AutoShape 3"/>
          <p:cNvSpPr/>
          <p:nvPr/>
        </p:nvSpPr>
        <p:spPr>
          <a:xfrm>
            <a:off x="2095500" y="1619250"/>
            <a:ext cx="8001000" cy="4762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7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Challenges &amp; Future Work</a:t>
            </a:r>
            <a:endParaRPr lang="en-US" sz="825"/>
          </a:p>
        </p:txBody>
      </p:sp>
      <p:sp>
        <p:nvSpPr>
          <p:cNvPr id="4" name="AutoShape 4"/>
          <p:cNvSpPr/>
          <p:nvPr/>
        </p:nvSpPr>
        <p:spPr>
          <a:xfrm>
            <a:off x="2095500" y="2381250"/>
            <a:ext cx="3810000" cy="3048000"/>
          </a:xfrm>
          <a:prstGeom prst="roundRect">
            <a:avLst>
              <a:gd name="adj" fmla="val 3125"/>
            </a:avLst>
          </a:prstGeom>
          <a:solidFill>
            <a:srgbClr val="FFFFFF">
              <a:alpha val="10000"/>
            </a:srgbClr>
          </a:solidFill>
          <a:ln w="12700" cap="flat" cmpd="sng">
            <a:solidFill>
              <a:srgbClr val="42A5F5">
                <a:alpha val="30000"/>
              </a:srgbClr>
            </a:solidFill>
            <a:prstDash val="solid"/>
            <a:round/>
          </a:ln>
        </p:spPr>
        <p:txBody>
          <a:bodyPr vert="horz" wrap="square" lIns="47625" tIns="47625" rIns="47625" bIns="47625" rtlCol="0" anchor="ctr"/>
          <a:lstStyle/>
          <a:p>
            <a:pPr algn="ctr">
              <a:defRPr/>
            </a:pPr>
            <a:endParaRPr sz="1050"/>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286000" y="2571750"/>
            <a:ext cx="228600" cy="228600"/>
          </a:xfrm>
          <a:prstGeom prst="rect">
            <a:avLst/>
          </a:prstGeom>
        </p:spPr>
      </p:pic>
      <p:sp>
        <p:nvSpPr>
          <p:cNvPr id="6" name="AutoShape 6"/>
          <p:cNvSpPr/>
          <p:nvPr/>
        </p:nvSpPr>
        <p:spPr>
          <a:xfrm>
            <a:off x="2571750" y="2552700"/>
            <a:ext cx="3238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42A5F5"/>
                </a:solidFill>
                <a:latin typeface="Noto Sans SC" panose="020B0200000000000000" charset="-122"/>
                <a:ea typeface="Noto Sans SC" panose="020B0200000000000000" charset="-122"/>
                <a:cs typeface="Noto Sans SC" panose="020B0200000000000000" charset="-122"/>
                <a:sym typeface="Noto Sans SC" panose="020B0200000000000000" charset="-122"/>
              </a:rPr>
              <a:t>Challenges &amp; Solutions</a:t>
            </a:r>
            <a:endParaRPr lang="en-US" sz="825"/>
          </a:p>
        </p:txBody>
      </p:sp>
      <p:cxnSp>
        <p:nvCxnSpPr>
          <p:cNvPr id="7" name="Connector 7"/>
          <p:cNvCxnSpPr/>
          <p:nvPr/>
        </p:nvCxnSpPr>
        <p:spPr>
          <a:xfrm rot="-9549">
            <a:off x="2286007" y="2900363"/>
            <a:ext cx="3429000" cy="9525"/>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3095625"/>
            <a:ext cx="190500" cy="190500"/>
          </a:xfrm>
          <a:prstGeom prst="rect">
            <a:avLst/>
          </a:prstGeom>
        </p:spPr>
      </p:pic>
      <p:sp>
        <p:nvSpPr>
          <p:cNvPr id="9" name="AutoShape 9"/>
          <p:cNvSpPr/>
          <p:nvPr/>
        </p:nvSpPr>
        <p:spPr>
          <a:xfrm>
            <a:off x="2571750" y="3067050"/>
            <a:ext cx="3238500" cy="4762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Importing .xls Data</a:t>
            </a:r>
            <a:endParaRPr lang="en-US" sz="825"/>
          </a:p>
          <a:p>
            <a:pPr indent="0" algn="l">
              <a:lnSpc>
                <a:spcPct val="125000"/>
              </a:lnSpc>
            </a:pPr>
            <a:r>
              <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Parsed legacy format with pandas/xlrd and handled missing values.</a:t>
            </a:r>
            <a:endPar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0" name="Picture 1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286000" y="3619500"/>
            <a:ext cx="190500" cy="190500"/>
          </a:xfrm>
          <a:prstGeom prst="rect">
            <a:avLst/>
          </a:prstGeom>
        </p:spPr>
      </p:pic>
      <p:sp>
        <p:nvSpPr>
          <p:cNvPr id="11" name="AutoShape 11"/>
          <p:cNvSpPr/>
          <p:nvPr/>
        </p:nvSpPr>
        <p:spPr>
          <a:xfrm>
            <a:off x="2571750" y="3667125"/>
            <a:ext cx="3238500" cy="4762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dirty="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Python Import Paths</a:t>
            </a:r>
            <a:endParaRPr lang="en-US" sz="825" dirty="0"/>
          </a:p>
          <a:p>
            <a:pPr indent="0" algn="l">
              <a:lnSpc>
                <a:spcPct val="125000"/>
              </a:lnSpc>
            </a:pPr>
            <a:r>
              <a:rPr lang="en-US" sz="1050" b="0" i="0" u="none" strike="noStrike" dirty="0">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Fixed 'module not found' errors by configuring </a:t>
            </a:r>
            <a:r>
              <a:rPr lang="en-US" sz="1050" b="0" i="0" u="none" strike="noStrike" dirty="0" err="1">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sys.path</a:t>
            </a:r>
            <a:r>
              <a:rPr lang="en-US" sz="1050" b="0" i="0" u="none" strike="noStrike" dirty="0">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050" b="0" i="0" u="none" strike="noStrike" dirty="0">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2" name="Picture 12"/>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286000" y="4238625"/>
            <a:ext cx="190500" cy="190500"/>
          </a:xfrm>
          <a:prstGeom prst="rect">
            <a:avLst/>
          </a:prstGeom>
        </p:spPr>
      </p:pic>
      <p:sp>
        <p:nvSpPr>
          <p:cNvPr id="13" name="AutoShape 13"/>
          <p:cNvSpPr/>
          <p:nvPr/>
        </p:nvSpPr>
        <p:spPr>
          <a:xfrm>
            <a:off x="2571750" y="4191000"/>
            <a:ext cx="3238500" cy="4762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dirty="0">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Case Sensitivity</a:t>
            </a:r>
            <a:endParaRPr lang="en-US" sz="825" dirty="0"/>
          </a:p>
          <a:p>
            <a:pPr indent="0" algn="l">
              <a:lnSpc>
                <a:spcPct val="125000"/>
              </a:lnSpc>
            </a:pPr>
            <a:r>
              <a:rPr lang="en-US" sz="1050" b="0" i="0" u="none" strike="noStrike" dirty="0">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Implemented case-insensitive queries for better UX.</a:t>
            </a:r>
            <a:endParaRPr lang="en-US" sz="1050" b="0" i="0" u="none" strike="noStrike" dirty="0">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6286500" y="2381250"/>
            <a:ext cx="3810000" cy="3048000"/>
          </a:xfrm>
          <a:prstGeom prst="roundRect">
            <a:avLst>
              <a:gd name="adj" fmla="val 3125"/>
            </a:avLst>
          </a:prstGeom>
          <a:solidFill>
            <a:srgbClr val="FFFFFF">
              <a:alpha val="10000"/>
            </a:srgbClr>
          </a:solidFill>
          <a:ln w="12700" cap="flat" cmpd="sng">
            <a:solidFill>
              <a:srgbClr val="42A5F5">
                <a:alpha val="30000"/>
              </a:srgbClr>
            </a:solidFill>
            <a:prstDash val="solid"/>
            <a:round/>
          </a:ln>
        </p:spPr>
        <p:txBody>
          <a:bodyPr vert="horz" wrap="square" lIns="47625" tIns="47625" rIns="47625" bIns="47625" rtlCol="0" anchor="ctr"/>
          <a:lstStyle/>
          <a:p>
            <a:pPr algn="ctr">
              <a:defRPr/>
            </a:pPr>
            <a:endParaRPr sz="1050"/>
          </a:p>
        </p:txBody>
      </p:sp>
      <p:pic>
        <p:nvPicPr>
          <p:cNvPr id="15" name="Picture 15"/>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477000" y="2571750"/>
            <a:ext cx="228600" cy="228600"/>
          </a:xfrm>
          <a:prstGeom prst="rect">
            <a:avLst/>
          </a:prstGeom>
        </p:spPr>
      </p:pic>
      <p:sp>
        <p:nvSpPr>
          <p:cNvPr id="16" name="AutoShape 16"/>
          <p:cNvSpPr/>
          <p:nvPr/>
        </p:nvSpPr>
        <p:spPr>
          <a:xfrm>
            <a:off x="6762750" y="2552700"/>
            <a:ext cx="32385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42A5F5"/>
                </a:solidFill>
                <a:latin typeface="Noto Sans SC" panose="020B0200000000000000" charset="-122"/>
                <a:ea typeface="Noto Sans SC" panose="020B0200000000000000" charset="-122"/>
                <a:cs typeface="Noto Sans SC" panose="020B0200000000000000" charset="-122"/>
                <a:sym typeface="Noto Sans SC" panose="020B0200000000000000" charset="-122"/>
              </a:rPr>
              <a:t>Limitations &amp; Future Improvements</a:t>
            </a:r>
            <a:endParaRPr lang="en-US" sz="825"/>
          </a:p>
        </p:txBody>
      </p:sp>
      <p:cxnSp>
        <p:nvCxnSpPr>
          <p:cNvPr id="17" name="Connector 17"/>
          <p:cNvCxnSpPr/>
          <p:nvPr/>
        </p:nvCxnSpPr>
        <p:spPr>
          <a:xfrm rot="-9549">
            <a:off x="6477007" y="2900363"/>
            <a:ext cx="3429000" cy="9525"/>
          </a:xfrm>
          <a:prstGeom prst="straightConnector1">
            <a:avLst/>
          </a:prstGeom>
          <a:solidFill>
            <a:srgbClr val="DEE0E3">
              <a:alpha val="100000"/>
            </a:srgbClr>
          </a:solidFill>
          <a:ln w="12700" cap="flat" cmpd="sng">
            <a:solidFill>
              <a:srgbClr val="FFFFFF">
                <a:alpha val="20000"/>
              </a:srgbClr>
            </a:solidFill>
            <a:prstDash val="solid"/>
            <a:round/>
            <a:headEnd type="none" w="med" len="med"/>
            <a:tailEnd type="none" w="med" len="med"/>
          </a:ln>
        </p:spPr>
      </p:cxnSp>
      <p:pic>
        <p:nvPicPr>
          <p:cNvPr id="18" name="Picture 18"/>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477000" y="3095625"/>
            <a:ext cx="190500" cy="190500"/>
          </a:xfrm>
          <a:prstGeom prst="rect">
            <a:avLst/>
          </a:prstGeom>
        </p:spPr>
      </p:pic>
      <p:sp>
        <p:nvSpPr>
          <p:cNvPr id="19" name="AutoShape 19"/>
          <p:cNvSpPr/>
          <p:nvPr/>
        </p:nvSpPr>
        <p:spPr>
          <a:xfrm>
            <a:off x="6762750" y="3067050"/>
            <a:ext cx="3238500" cy="476250"/>
          </a:xfrm>
          <a:prstGeom prst="rect">
            <a:avLst/>
          </a:prstGeom>
          <a:noFill/>
          <a:ln w="12700" cap="flat" cmpd="sng">
            <a:noFill/>
            <a:prstDash val="solid"/>
            <a:round/>
          </a:ln>
        </p:spPr>
        <p:txBody>
          <a:bodyPr vert="horz" wrap="square" lIns="0" tIns="0" rIns="0" bIns="0" rtlCol="0" anchor="ctr" anchorCtr="0"/>
          <a:lstStyle/>
          <a:p>
            <a:pPr indent="0" algn="l">
              <a:lnSpc>
                <a:spcPct val="125000"/>
              </a:lnSpc>
            </a:pPr>
            <a:r>
              <a:rPr lang="en-US" sz="12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Data comparison</a:t>
            </a:r>
            <a:endParaRPr lang="en-US" sz="12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a:lnSpc>
                <a:spcPct val="125000"/>
              </a:lnSpc>
            </a:pPr>
            <a:r>
              <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Add a new endpoint to compare user data with official data.</a:t>
            </a:r>
            <a:endPar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0" name="Picture 20"/>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477000" y="3619500"/>
            <a:ext cx="190500" cy="190500"/>
          </a:xfrm>
          <a:prstGeom prst="rect">
            <a:avLst/>
          </a:prstGeom>
        </p:spPr>
      </p:pic>
      <p:sp>
        <p:nvSpPr>
          <p:cNvPr id="21" name="AutoShape 21"/>
          <p:cNvSpPr/>
          <p:nvPr/>
        </p:nvSpPr>
        <p:spPr>
          <a:xfrm>
            <a:off x="6762750" y="3590925"/>
            <a:ext cx="3238500" cy="4762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Security Enhancement</a:t>
            </a:r>
            <a:endParaRPr lang="en-US" sz="825"/>
          </a:p>
          <a:p>
            <a:pPr indent="0" algn="l">
              <a:lnSpc>
                <a:spcPct val="125000"/>
              </a:lnSpc>
            </a:pPr>
            <a:r>
              <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Add API key/JWT authentication and rate limiting.</a:t>
            </a:r>
            <a:endPar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2" name="Picture 22"/>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6477000" y="4143375"/>
            <a:ext cx="190500" cy="190500"/>
          </a:xfrm>
          <a:prstGeom prst="rect">
            <a:avLst/>
          </a:prstGeom>
        </p:spPr>
      </p:pic>
      <p:sp>
        <p:nvSpPr>
          <p:cNvPr id="23" name="AutoShape 23"/>
          <p:cNvSpPr/>
          <p:nvPr/>
        </p:nvSpPr>
        <p:spPr>
          <a:xfrm>
            <a:off x="6762750" y="4114800"/>
            <a:ext cx="3238500" cy="4762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Data Freshness</a:t>
            </a:r>
            <a:endParaRPr lang="en-US" sz="825"/>
          </a:p>
          <a:p>
            <a:pPr indent="0" algn="l">
              <a:lnSpc>
                <a:spcPct val="125000"/>
              </a:lnSpc>
            </a:pPr>
            <a:r>
              <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Automate the download of the latest VOA datasets.</a:t>
            </a:r>
            <a:endParaRPr lang="en-US" sz="1050" b="0" i="0" u="none" strike="noStrike">
              <a:solidFill>
                <a:srgbClr val="FFFFFF">
                  <a:alpha val="8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47A1">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1524000" y="746637"/>
            <a:ext cx="9144000" cy="5143500"/>
          </a:xfrm>
          <a:prstGeom prst="roundRect">
            <a:avLst>
              <a:gd name="adj" fmla="val 0"/>
            </a:avLst>
          </a:prstGeom>
          <a:solidFill>
            <a:srgbClr val="0D47A1">
              <a:alpha val="85000"/>
            </a:srgbClr>
          </a:solidFill>
          <a:ln w="25400" cap="flat" cmpd="sng">
            <a:noFill/>
            <a:prstDash val="solid"/>
            <a:round/>
          </a:ln>
        </p:spPr>
        <p:txBody>
          <a:bodyPr vert="horz" wrap="square" lIns="47625" tIns="47625" rIns="47625" bIns="47625" rtlCol="0" anchor="ctr"/>
          <a:lstStyle/>
          <a:p>
            <a:pPr algn="ctr">
              <a:defRPr/>
            </a:pPr>
            <a:r>
              <a:rPr lang="en-US" altLang="zh-CN" sz="4050" dirty="0">
                <a:solidFill>
                  <a:schemeClr val="bg1"/>
                </a:solidFill>
              </a:rPr>
              <a:t>Thank you for</a:t>
            </a:r>
            <a:r>
              <a:rPr lang="zh-CN" altLang="en-US" sz="4050" dirty="0">
                <a:solidFill>
                  <a:schemeClr val="bg1"/>
                </a:solidFill>
              </a:rPr>
              <a:t> </a:t>
            </a:r>
            <a:r>
              <a:rPr lang="en-US" altLang="zh-CN" sz="4050" dirty="0">
                <a:solidFill>
                  <a:schemeClr val="bg1"/>
                </a:solidFill>
              </a:rPr>
              <a:t>Listening!</a:t>
            </a:r>
            <a:endParaRPr sz="4050" dirty="0">
              <a:solidFill>
                <a:schemeClr val="bg1"/>
              </a:solidFill>
            </a:endParaRPr>
          </a:p>
        </p:txBody>
      </p:sp>
      <p:sp>
        <p:nvSpPr>
          <p:cNvPr id="3" name="AutoShape 3"/>
          <p:cNvSpPr/>
          <p:nvPr/>
        </p:nvSpPr>
        <p:spPr>
          <a:xfrm>
            <a:off x="2286000" y="1428750"/>
            <a:ext cx="7620000" cy="5715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endParaRPr lang="en-US" sz="825" dirty="0"/>
          </a:p>
        </p:txBody>
      </p:sp>
      <p:sp>
        <p:nvSpPr>
          <p:cNvPr id="6" name="AutoShape 6"/>
          <p:cNvSpPr/>
          <p:nvPr/>
        </p:nvSpPr>
        <p:spPr>
          <a:xfrm>
            <a:off x="3143250" y="2381250"/>
            <a:ext cx="57150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endParaRPr lang="en-US" sz="825" dirty="0"/>
          </a:p>
        </p:txBody>
      </p:sp>
      <p:sp>
        <p:nvSpPr>
          <p:cNvPr id="7" name="AutoShape 7"/>
          <p:cNvSpPr/>
          <p:nvPr/>
        </p:nvSpPr>
        <p:spPr>
          <a:xfrm>
            <a:off x="2762250" y="2714625"/>
            <a:ext cx="6667500" cy="1143000"/>
          </a:xfrm>
          <a:prstGeom prst="rect">
            <a:avLst/>
          </a:prstGeom>
          <a:noFill/>
          <a:ln w="12700" cap="flat" cmpd="sng">
            <a:noFill/>
            <a:prstDash val="solid"/>
            <a:round/>
          </a:ln>
        </p:spPr>
        <p:txBody>
          <a:bodyPr vert="horz" wrap="square" lIns="0" tIns="0" rIns="0" bIns="0" rtlCol="0" anchor="ctr" anchorCtr="0"/>
          <a:lstStyle/>
          <a:p>
            <a:pPr indent="0" algn="l">
              <a:lnSpc>
                <a:spcPct val="117000"/>
              </a:lnSpc>
              <a:defRPr/>
            </a:pPr>
            <a:endParaRPr lang="en-US" sz="825" dirty="0"/>
          </a:p>
        </p:txBody>
      </p:sp>
      <p:sp>
        <p:nvSpPr>
          <p:cNvPr id="10" name="AutoShape 10"/>
          <p:cNvSpPr/>
          <p:nvPr/>
        </p:nvSpPr>
        <p:spPr>
          <a:xfrm>
            <a:off x="3143250" y="4476750"/>
            <a:ext cx="5715000" cy="28575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endParaRPr lang="en-US" sz="825" dirty="0"/>
          </a:p>
        </p:txBody>
      </p:sp>
      <p:sp>
        <p:nvSpPr>
          <p:cNvPr id="11" name="AutoShape 11"/>
          <p:cNvSpPr/>
          <p:nvPr/>
        </p:nvSpPr>
        <p:spPr>
          <a:xfrm>
            <a:off x="2762250" y="4810125"/>
            <a:ext cx="66675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endParaRPr lang="en-US" sz="825" dirty="0"/>
          </a:p>
        </p:txBody>
      </p:sp>
    </p:spTree>
  </p:cSld>
  <p:clrMapOvr>
    <a:masterClrMapping/>
  </p:clrMapOvr>
</p:sld>
</file>

<file path=ppt/tags/tag1.xml><?xml version="1.0" encoding="utf-8"?>
<p:tagLst xmlns:p="http://schemas.openxmlformats.org/presentationml/2006/main">
  <p:tag name="commondata" val="eyJoZGlkIjoiZTIyZTNmMjFiNTJjMjM2YzJiYTlkYzRmY2I2NGEzMzIifQ=="/>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2958</Words>
  <Application>WPS 演示</Application>
  <PresentationFormat>宽屏</PresentationFormat>
  <Paragraphs>129</Paragraphs>
  <Slides>8</Slides>
  <Notes>8</Notes>
  <HiddenSlides>0</HiddenSlides>
  <MMClips>0</MMClips>
  <ScaleCrop>false</ScaleCrop>
  <HeadingPairs>
    <vt:vector size="6" baseType="variant">
      <vt:variant>
        <vt:lpstr>已用的字体</vt:lpstr>
      </vt:variant>
      <vt:variant>
        <vt:i4>7</vt:i4>
      </vt:variant>
      <vt:variant>
        <vt:lpstr>主题</vt:lpstr>
      </vt:variant>
      <vt:variant>
        <vt:i4>2</vt:i4>
      </vt:variant>
      <vt:variant>
        <vt:lpstr>幻灯片标题</vt:lpstr>
      </vt:variant>
      <vt:variant>
        <vt:i4>8</vt:i4>
      </vt:variant>
    </vt:vector>
  </HeadingPairs>
  <TitlesOfParts>
    <vt:vector size="17" baseType="lpstr">
      <vt:lpstr>Arial</vt:lpstr>
      <vt:lpstr>宋体</vt:lpstr>
      <vt:lpstr>Wingdings</vt:lpstr>
      <vt:lpstr>Arial</vt:lpstr>
      <vt:lpstr>Noto Sans SC</vt:lpstr>
      <vt:lpstr>微软雅黑</vt:lpstr>
      <vt:lpstr>Arial Unicode MS</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Xuuu.</cp:lastModifiedBy>
  <cp:revision>4</cp:revision>
  <dcterms:created xsi:type="dcterms:W3CDTF">2026-03-26T08:27:00Z</dcterms:created>
  <dcterms:modified xsi:type="dcterms:W3CDTF">2026-03-26T09:22:13Z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0C0941BD993843708A00CE2A9E4DFEFC_12</vt:lpwstr>
  </property>
  <property fmtid="{D5CDD505-2E9C-101B-9397-08002B2CF9AE}" pid="3" name="KSOProductBuildVer">
    <vt:lpwstr>2052-12.1.0.18276</vt:lpwstr>
  </property>
</Properties>
</file>