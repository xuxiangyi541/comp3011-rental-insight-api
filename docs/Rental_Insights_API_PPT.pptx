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658"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My name is 徐祥义, and today I will present my COMP3011 coursework project: the Rental Insights API. This is a RESTful API designed to manage rental listings and provide valuable market insights based on both user-submitted data and official statistics.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project is a RESTful API that serves two main purposes: first, it allows users to perform standard CRUD operations on rental listings and the areas they belong to. Second, and more importantly, it provides analytical insights, such as calculating rent distributions and housing affordability. A key feature is the integration of official UK government rental data from the VOA, which adds a layer of authoritative market comparison. The final deliverables include the GitHub repository, auto-generated API docs, a technical report, and this presentation.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is built using FastAPI, chosen for its speed and automatic OpenAPI documentation. I used SQLAlchemy as the ORM to interact with a SQLite database, which is perfect for this coursework as it's lightweight and doesn't require a separate server. The project is structured into clear modules: main.py is the entry point, models.py defines the database schema, schemas.py handles data validation, and the routers folder contains all the API endpoints organized by feature. The scripts folder contains utilities for importing the official dataset.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data model consists of three main tables. The Areas table holds geographic data and average income for affordability analysis. The Listings table stores all user-submitted rental information and is linked to an Area through a foreign key. The OfficialRentStats table is populated with data imported from the VOA Excel file, containing statistical distributions like median and mean rents. This structure allows for powerful queries that combine user data with official statistics.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offers a range of core features. It supports full CRUD operations for managing listings and areas. The analytics endpoints provide powerful insights, such as calculating the average rent in an area or determining housing affordability. The official stats endpoints allow users to query the imported VOA data and compare it with user-submitted listings. Now, let me show you a quick demo of creating a listing and fetching area rent analytics using the interactive Swagger documentation.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My technology choices were driven by the project requirements and ease of development. FastAPI was the obvious choice for building the API due to its speed, built-in data validation, and automatic documentation. For the database, I used SQLAlchemy with SQLite; the ORM simplifies database interactions, and SQLite is perfect for a demo project as it's self-contained. Finally, I used pandas and xlrd to handle the import of the official VOA Excel data, which was in an older .xls format.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During development, I faced several challenges. Importing the old .xls file required specific libraries and handling missing data. I also resolved some Python path issues to ensure scripts and tests ran correctly. For future improvements, I would focus on performance by moving analytics to the database, enhance security with authentication, and automate the process of fetching the latest official data to keep the API up-to-date.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summary, the Rental Insights API fulfills all the coursework requirements by providing a robust solution for managing rental listings and delivering valuable market insights through analytics and official data integration. This project has been a great learning experience in API development and database management. Thank you for listening. I'm now ready to take any questions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slides/_rels/slide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slides/_rels/slide6.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46.svg"/></Relationships>
</file>

<file path=ppt/slides/_rels/slide7.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59.png"/><Relationship Id="rId18" Type="http://schemas.openxmlformats.org/officeDocument/2006/relationships/image" Target="../media/image64.sv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svg"/><Relationship Id="rId17" Type="http://schemas.openxmlformats.org/officeDocument/2006/relationships/image" Target="../media/image63.png"/><Relationship Id="rId2" Type="http://schemas.openxmlformats.org/officeDocument/2006/relationships/notesSlide" Target="../notesSlides/notesSlide7.xml"/><Relationship Id="rId16" Type="http://schemas.openxmlformats.org/officeDocument/2006/relationships/image" Target="../media/image62.svg"/><Relationship Id="rId1" Type="http://schemas.openxmlformats.org/officeDocument/2006/relationships/slideLayout" Target="../slideLayouts/slideLayout12.xml"/><Relationship Id="rId6" Type="http://schemas.openxmlformats.org/officeDocument/2006/relationships/image" Target="../media/image52.sv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 Id="rId14" Type="http://schemas.openxmlformats.org/officeDocument/2006/relationships/image" Target="../media/image60.svg"/></Relationships>
</file>

<file path=ppt/slides/_rels/slide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032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Rental Insights API</a:t>
            </a:r>
            <a:endParaRPr lang="en-US" sz="1100"/>
          </a:p>
        </p:txBody>
      </p:sp>
      <p:sp>
        <p:nvSpPr>
          <p:cNvPr id="4" name="AutoShape 4"/>
          <p:cNvSpPr/>
          <p:nvPr/>
        </p:nvSpPr>
        <p:spPr>
          <a:xfrm>
            <a:off x="1016000" y="28575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42A5F5"/>
                </a:solidFill>
                <a:latin typeface="Noto Sans SC"/>
                <a:ea typeface="Noto Sans SC"/>
                <a:cs typeface="Noto Sans SC"/>
                <a:sym typeface="Noto Sans SC"/>
              </a:rPr>
              <a:t>A RESTful API for Rental Listings and Market Insights</a:t>
            </a:r>
            <a:endParaRPr lang="en-US" sz="1100"/>
          </a:p>
        </p:txBody>
      </p:sp>
      <p:cxnSp>
        <p:nvCxnSpPr>
          <p:cNvPr id="5" name="Connector 5"/>
          <p:cNvCxnSpPr/>
          <p:nvPr/>
        </p:nvCxnSpPr>
        <p:spPr>
          <a:xfrm rot="-34376">
            <a:off x="5461032" y="3549650"/>
            <a:ext cx="1270000" cy="12700"/>
          </a:xfrm>
          <a:prstGeom prst="straightConnector1">
            <a:avLst/>
          </a:prstGeom>
          <a:solidFill>
            <a:srgbClr val="DEE0E3">
              <a:alpha val="100000"/>
            </a:srgbClr>
          </a:solidFill>
          <a:ln w="25400" cap="flat" cmpd="sng">
            <a:solidFill>
              <a:srgbClr val="42A5F5">
                <a:alpha val="100000"/>
              </a:srgbClr>
            </a:solidFill>
            <a:prstDash val="solid"/>
            <a:round/>
            <a:headEnd type="none" w="lg" len="lg"/>
            <a:tailEnd type="none" w="lg" len="lg"/>
          </a:ln>
        </p:spPr>
      </p:cxn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6000" y="4826000"/>
            <a:ext cx="254000" cy="254000"/>
          </a:xfrm>
          <a:prstGeom prst="rect">
            <a:avLst/>
          </a:prstGeom>
        </p:spPr>
      </p:pic>
      <p:sp>
        <p:nvSpPr>
          <p:cNvPr id="7" name="AutoShape 7"/>
          <p:cNvSpPr/>
          <p:nvPr/>
        </p:nvSpPr>
        <p:spPr>
          <a:xfrm>
            <a:off x="2603500" y="4800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E0E0E0"/>
                </a:solidFill>
                <a:latin typeface="Noto Sans SC"/>
                <a:ea typeface="Noto Sans SC"/>
                <a:cs typeface="Noto Sans SC"/>
                <a:sym typeface="Noto Sans SC"/>
              </a:rPr>
              <a:t>Name: </a:t>
            </a:r>
            <a:r>
              <a:rPr lang="en-US" altLang="zh-CN" dirty="0">
                <a:solidFill>
                  <a:srgbClr val="E0E0E0"/>
                </a:solidFill>
                <a:latin typeface="Noto Sans SC"/>
                <a:ea typeface="Noto Sans SC"/>
                <a:cs typeface="Noto Sans SC"/>
                <a:sym typeface="Noto Sans SC"/>
              </a:rPr>
              <a:t>Xiangyi Xu</a:t>
            </a:r>
            <a:endParaRPr lang="en-US" sz="1100" dirty="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4826000"/>
            <a:ext cx="254000" cy="254000"/>
          </a:xfrm>
          <a:prstGeom prst="rect">
            <a:avLst/>
          </a:prstGeom>
        </p:spPr>
      </p:pic>
      <p:sp>
        <p:nvSpPr>
          <p:cNvPr id="9" name="AutoShape 9"/>
          <p:cNvSpPr/>
          <p:nvPr/>
        </p:nvSpPr>
        <p:spPr>
          <a:xfrm>
            <a:off x="6413500" y="4800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0E0E0"/>
                </a:solidFill>
                <a:latin typeface="Noto Sans SC"/>
                <a:ea typeface="Noto Sans SC"/>
                <a:cs typeface="Noto Sans SC"/>
                <a:sym typeface="Noto Sans SC"/>
              </a:rPr>
              <a:t>Student ID: 201724467</a:t>
            </a:r>
            <a:endParaRPr lang="en-US" sz="110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86000" y="5270500"/>
            <a:ext cx="254000" cy="254000"/>
          </a:xfrm>
          <a:prstGeom prst="rect">
            <a:avLst/>
          </a:prstGeom>
        </p:spPr>
      </p:pic>
      <p:sp>
        <p:nvSpPr>
          <p:cNvPr id="11" name="AutoShape 11"/>
          <p:cNvSpPr/>
          <p:nvPr/>
        </p:nvSpPr>
        <p:spPr>
          <a:xfrm>
            <a:off x="2603500" y="52451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0E0E0"/>
                </a:solidFill>
                <a:latin typeface="Noto Sans SC"/>
                <a:ea typeface="Noto Sans SC"/>
                <a:cs typeface="Noto Sans SC"/>
                <a:sym typeface="Noto Sans SC"/>
              </a:rPr>
              <a:t>Course: COMP3011 Coursework 1</a:t>
            </a:r>
            <a:endParaRPr lang="en-US" sz="1100"/>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96000" y="5270500"/>
            <a:ext cx="254000" cy="254000"/>
          </a:xfrm>
          <a:prstGeom prst="rect">
            <a:avLst/>
          </a:prstGeom>
        </p:spPr>
      </p:pic>
      <p:sp>
        <p:nvSpPr>
          <p:cNvPr id="13" name="AutoShape 13"/>
          <p:cNvSpPr/>
          <p:nvPr/>
        </p:nvSpPr>
        <p:spPr>
          <a:xfrm>
            <a:off x="6413500" y="52451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0E0E0"/>
                </a:solidFill>
                <a:latin typeface="Noto Sans SC"/>
                <a:ea typeface="Noto Sans SC"/>
                <a:cs typeface="Noto Sans SC"/>
                <a:sym typeface="Noto Sans SC"/>
              </a:rPr>
              <a:t>Date: March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Project Overview</a:t>
            </a:r>
            <a:endParaRPr lang="en-US" sz="1100"/>
          </a:p>
        </p:txBody>
      </p:sp>
      <p:sp>
        <p:nvSpPr>
          <p:cNvPr id="4" name="AutoShape 4"/>
          <p:cNvSpPr/>
          <p:nvPr/>
        </p:nvSpPr>
        <p:spPr>
          <a:xfrm>
            <a:off x="762000" y="2032000"/>
            <a:ext cx="5207000" cy="2032000"/>
          </a:xfrm>
          <a:prstGeom prst="roundRect">
            <a:avLst>
              <a:gd name="adj" fmla="val 6250"/>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406400" cy="406400"/>
          </a:xfrm>
          <a:prstGeom prst="rect">
            <a:avLst/>
          </a:prstGeom>
        </p:spPr>
      </p:pic>
      <p:sp>
        <p:nvSpPr>
          <p:cNvPr id="6" name="AutoShape 6"/>
          <p:cNvSpPr/>
          <p:nvPr/>
        </p:nvSpPr>
        <p:spPr>
          <a:xfrm>
            <a:off x="1524000" y="2286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Core Functionality</a:t>
            </a:r>
            <a:endParaRPr lang="en-US" sz="1100"/>
          </a:p>
        </p:txBody>
      </p:sp>
      <p:sp>
        <p:nvSpPr>
          <p:cNvPr id="7" name="AutoShape 7"/>
          <p:cNvSpPr/>
          <p:nvPr/>
        </p:nvSpPr>
        <p:spPr>
          <a:xfrm>
            <a:off x="1016000" y="2730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FFFFFF">
                    <a:alpha val="90196"/>
                  </a:srgbClr>
                </a:solidFill>
                <a:latin typeface="Noto Sans SC"/>
                <a:ea typeface="Noto Sans SC"/>
                <a:cs typeface="Noto Sans SC"/>
                <a:sym typeface="Noto Sans SC"/>
              </a:rPr>
              <a:t>Implements CRUD operations for rental listings and geographic areas, providing a solid foundation for data management.</a:t>
            </a:r>
            <a:endParaRPr lang="en-US" sz="1100" dirty="0"/>
          </a:p>
        </p:txBody>
      </p:sp>
      <p:sp>
        <p:nvSpPr>
          <p:cNvPr id="8" name="AutoShape 8"/>
          <p:cNvSpPr/>
          <p:nvPr/>
        </p:nvSpPr>
        <p:spPr>
          <a:xfrm>
            <a:off x="6223000" y="2032000"/>
            <a:ext cx="5207000" cy="2032000"/>
          </a:xfrm>
          <a:prstGeom prst="roundRect">
            <a:avLst>
              <a:gd name="adj" fmla="val 6250"/>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286000"/>
            <a:ext cx="406400" cy="406400"/>
          </a:xfrm>
          <a:prstGeom prst="rect">
            <a:avLst/>
          </a:prstGeom>
        </p:spPr>
      </p:pic>
      <p:sp>
        <p:nvSpPr>
          <p:cNvPr id="10" name="AutoShape 10"/>
          <p:cNvSpPr/>
          <p:nvPr/>
        </p:nvSpPr>
        <p:spPr>
          <a:xfrm>
            <a:off x="6985000" y="2286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Market Insights</a:t>
            </a:r>
            <a:endParaRPr lang="en-US" sz="1100"/>
          </a:p>
        </p:txBody>
      </p:sp>
      <p:sp>
        <p:nvSpPr>
          <p:cNvPr id="11" name="AutoShape 11"/>
          <p:cNvSpPr/>
          <p:nvPr/>
        </p:nvSpPr>
        <p:spPr>
          <a:xfrm>
            <a:off x="6477000" y="2730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alpha val="90196"/>
                  </a:srgbClr>
                </a:solidFill>
                <a:latin typeface="Noto Sans SC"/>
                <a:ea typeface="Noto Sans SC"/>
                <a:cs typeface="Noto Sans SC"/>
                <a:sym typeface="Noto Sans SC"/>
              </a:rPr>
              <a:t>Provides analytics endpoints to calculate rent distribution and affordability indicators, enabling data-driven decisions.</a:t>
            </a:r>
            <a:endParaRPr lang="en-US" sz="1100"/>
          </a:p>
        </p:txBody>
      </p:sp>
      <p:sp>
        <p:nvSpPr>
          <p:cNvPr id="12" name="AutoShape 12"/>
          <p:cNvSpPr/>
          <p:nvPr/>
        </p:nvSpPr>
        <p:spPr>
          <a:xfrm>
            <a:off x="762000" y="4254500"/>
            <a:ext cx="5207000" cy="2032000"/>
          </a:xfrm>
          <a:prstGeom prst="roundRect">
            <a:avLst>
              <a:gd name="adj" fmla="val 6250"/>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08500"/>
            <a:ext cx="406400" cy="406400"/>
          </a:xfrm>
          <a:prstGeom prst="rect">
            <a:avLst/>
          </a:prstGeom>
        </p:spPr>
      </p:pic>
      <p:sp>
        <p:nvSpPr>
          <p:cNvPr id="14" name="AutoShape 14"/>
          <p:cNvSpPr/>
          <p:nvPr/>
        </p:nvSpPr>
        <p:spPr>
          <a:xfrm>
            <a:off x="1524000" y="4508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Official Data Integration</a:t>
            </a:r>
            <a:endParaRPr lang="en-US" sz="1100"/>
          </a:p>
        </p:txBody>
      </p:sp>
      <p:sp>
        <p:nvSpPr>
          <p:cNvPr id="15" name="AutoShape 15"/>
          <p:cNvSpPr/>
          <p:nvPr/>
        </p:nvSpPr>
        <p:spPr>
          <a:xfrm>
            <a:off x="1016000" y="4953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alpha val="90196"/>
                  </a:srgbClr>
                </a:solidFill>
                <a:latin typeface="Noto Sans SC"/>
                <a:ea typeface="Noto Sans SC"/>
                <a:cs typeface="Noto Sans SC"/>
                <a:sym typeface="Noto Sans SC"/>
              </a:rPr>
              <a:t>Incorporates VOA Private Rental Market Statistics (2018-2019) for authoritative comparisons and benchmarking.</a:t>
            </a:r>
            <a:endParaRPr lang="en-US" sz="1100"/>
          </a:p>
        </p:txBody>
      </p:sp>
      <p:sp>
        <p:nvSpPr>
          <p:cNvPr id="16" name="AutoShape 16"/>
          <p:cNvSpPr/>
          <p:nvPr/>
        </p:nvSpPr>
        <p:spPr>
          <a:xfrm>
            <a:off x="6223000" y="4254500"/>
            <a:ext cx="5207000" cy="2032000"/>
          </a:xfrm>
          <a:prstGeom prst="roundRect">
            <a:avLst>
              <a:gd name="adj" fmla="val 6250"/>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508500"/>
            <a:ext cx="406400" cy="406400"/>
          </a:xfrm>
          <a:prstGeom prst="rect">
            <a:avLst/>
          </a:prstGeom>
        </p:spPr>
      </p:pic>
      <p:sp>
        <p:nvSpPr>
          <p:cNvPr id="18" name="AutoShape 18"/>
          <p:cNvSpPr/>
          <p:nvPr/>
        </p:nvSpPr>
        <p:spPr>
          <a:xfrm>
            <a:off x="6985000" y="4508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Key Deliverables</a:t>
            </a:r>
            <a:endParaRPr lang="en-US" sz="1100"/>
          </a:p>
        </p:txBody>
      </p:sp>
      <p:sp>
        <p:nvSpPr>
          <p:cNvPr id="19" name="AutoShape 19"/>
          <p:cNvSpPr/>
          <p:nvPr/>
        </p:nvSpPr>
        <p:spPr>
          <a:xfrm>
            <a:off x="6477000" y="4953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alpha val="90196"/>
                  </a:srgbClr>
                </a:solidFill>
                <a:latin typeface="Noto Sans SC"/>
                <a:ea typeface="Noto Sans SC"/>
                <a:cs typeface="Noto Sans SC"/>
                <a:sym typeface="Noto Sans SC"/>
              </a:rPr>
              <a:t>Complete package including a public GitHub repo, Swagger API documentation, a detailed technical report, and this presentation.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Architecture &amp; Module Structure</a:t>
            </a:r>
            <a:endParaRPr lang="en-US" sz="1100"/>
          </a:p>
        </p:txBody>
      </p:sp>
      <p:sp>
        <p:nvSpPr>
          <p:cNvPr id="4" name="AutoShape 4"/>
          <p:cNvSpPr/>
          <p:nvPr/>
        </p:nvSpPr>
        <p:spPr>
          <a:xfrm>
            <a:off x="762000" y="1778000"/>
            <a:ext cx="5080000" cy="4318000"/>
          </a:xfrm>
          <a:prstGeom prst="roundRect">
            <a:avLst>
              <a:gd name="adj" fmla="val 2941"/>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304800" cy="304800"/>
          </a:xfrm>
          <a:prstGeom prst="rect">
            <a:avLst/>
          </a:prstGeom>
        </p:spPr>
      </p:pic>
      <p:sp>
        <p:nvSpPr>
          <p:cNvPr id="6" name="AutoShape 6"/>
          <p:cNvSpPr/>
          <p:nvPr/>
        </p:nvSpPr>
        <p:spPr>
          <a:xfrm>
            <a:off x="13970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Core Tech Stack</a:t>
            </a:r>
            <a:endParaRPr lang="en-US" sz="1100"/>
          </a:p>
        </p:txBody>
      </p:sp>
      <p:cxnSp>
        <p:nvCxnSpPr>
          <p:cNvPr id="7" name="Connector 7"/>
          <p:cNvCxnSpPr/>
          <p:nvPr/>
        </p:nvCxnSpPr>
        <p:spPr>
          <a:xfrm rot="-9549">
            <a:off x="1016009" y="2406650"/>
            <a:ext cx="457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667000"/>
            <a:ext cx="254000" cy="254000"/>
          </a:xfrm>
          <a:prstGeom prst="rect">
            <a:avLst/>
          </a:prstGeom>
        </p:spPr>
      </p:pic>
      <p:sp>
        <p:nvSpPr>
          <p:cNvPr id="9" name="AutoShape 9"/>
          <p:cNvSpPr/>
          <p:nvPr/>
        </p:nvSpPr>
        <p:spPr>
          <a:xfrm>
            <a:off x="1397000" y="26416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FastAPI Framework</a:t>
            </a:r>
            <a:endParaRPr lang="en-US" sz="1100"/>
          </a:p>
          <a:p>
            <a:pPr indent="0" algn="l">
              <a:lnSpc>
                <a:spcPct val="125000"/>
              </a:lnSpc>
            </a:pPr>
            <a:r>
              <a:rPr lang="en-US" sz="1400" b="0" i="0" u="none" strike="noStrike">
                <a:solidFill>
                  <a:srgbClr val="FFFFFF">
                    <a:alpha val="70196"/>
                  </a:srgbClr>
                </a:solidFill>
                <a:latin typeface="Noto Sans SC"/>
                <a:ea typeface="Noto Sans SC"/>
                <a:cs typeface="Noto Sans SC"/>
                <a:sym typeface="Noto Sans SC"/>
              </a:rPr>
              <a:t>High performance with automatic OpenAPI documentation.</a:t>
            </a: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492500"/>
            <a:ext cx="254000" cy="254000"/>
          </a:xfrm>
          <a:prstGeom prst="rect">
            <a:avLst/>
          </a:prstGeom>
        </p:spPr>
      </p:pic>
      <p:sp>
        <p:nvSpPr>
          <p:cNvPr id="11" name="AutoShape 11"/>
          <p:cNvSpPr/>
          <p:nvPr/>
        </p:nvSpPr>
        <p:spPr>
          <a:xfrm>
            <a:off x="1397000" y="34671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SQLAlchemy &amp; SQLite</a:t>
            </a:r>
            <a:endParaRPr lang="en-US" sz="1100"/>
          </a:p>
          <a:p>
            <a:pPr indent="0" algn="l">
              <a:lnSpc>
                <a:spcPct val="125000"/>
              </a:lnSpc>
            </a:pPr>
            <a:r>
              <a:rPr lang="en-US" sz="1400" b="0" i="0" u="none" strike="noStrike">
                <a:solidFill>
                  <a:srgbClr val="FFFFFF">
                    <a:alpha val="70196"/>
                  </a:srgbClr>
                </a:solidFill>
                <a:latin typeface="Noto Sans SC"/>
                <a:ea typeface="Noto Sans SC"/>
                <a:cs typeface="Noto Sans SC"/>
                <a:sym typeface="Noto Sans SC"/>
              </a:rPr>
              <a:t>Lightweight ORM with file-based storage for easy demonstration.</a:t>
            </a:r>
          </a:p>
        </p:txBody>
      </p:sp>
      <p:sp>
        <p:nvSpPr>
          <p:cNvPr id="12" name="AutoShape 12"/>
          <p:cNvSpPr/>
          <p:nvPr/>
        </p:nvSpPr>
        <p:spPr>
          <a:xfrm>
            <a:off x="6096000" y="1778000"/>
            <a:ext cx="5080000" cy="4318000"/>
          </a:xfrm>
          <a:prstGeom prst="roundRect">
            <a:avLst>
              <a:gd name="adj" fmla="val 2941"/>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2032000"/>
            <a:ext cx="304800" cy="304800"/>
          </a:xfrm>
          <a:prstGeom prst="rect">
            <a:avLst/>
          </a:prstGeom>
        </p:spPr>
      </p:pic>
      <p:sp>
        <p:nvSpPr>
          <p:cNvPr id="14" name="AutoShape 14"/>
          <p:cNvSpPr/>
          <p:nvPr/>
        </p:nvSpPr>
        <p:spPr>
          <a:xfrm>
            <a:off x="67310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Project Module Layout</a:t>
            </a:r>
            <a:endParaRPr lang="en-US" sz="1100"/>
          </a:p>
        </p:txBody>
      </p:sp>
      <p:cxnSp>
        <p:nvCxnSpPr>
          <p:cNvPr id="15" name="Connector 15"/>
          <p:cNvCxnSpPr/>
          <p:nvPr/>
        </p:nvCxnSpPr>
        <p:spPr>
          <a:xfrm rot="-9549">
            <a:off x="6350009" y="2406650"/>
            <a:ext cx="457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2667000"/>
            <a:ext cx="228600" cy="228600"/>
          </a:xfrm>
          <a:prstGeom prst="rect">
            <a:avLst/>
          </a:prstGeom>
        </p:spPr>
      </p:pic>
      <p:sp>
        <p:nvSpPr>
          <p:cNvPr id="17" name="AutoShape 17"/>
          <p:cNvSpPr/>
          <p:nvPr/>
        </p:nvSpPr>
        <p:spPr>
          <a:xfrm>
            <a:off x="6667500" y="2641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main.py</a:t>
            </a:r>
            <a:r>
              <a:rPr lang="en-US" sz="1400" b="0" i="0" u="none" strike="noStrike">
                <a:solidFill>
                  <a:srgbClr val="FFFFFF">
                    <a:alpha val="70196"/>
                  </a:srgbClr>
                </a:solidFill>
                <a:latin typeface="Noto Sans SC"/>
                <a:ea typeface="Noto Sans SC"/>
                <a:cs typeface="Noto Sans SC"/>
                <a:sym typeface="Noto Sans SC"/>
              </a:rPr>
              <a:t>- Entry point &amp; Router registration</a:t>
            </a:r>
            <a:endParaRPr lang="en-US" sz="1100"/>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3175000"/>
            <a:ext cx="228600" cy="228600"/>
          </a:xfrm>
          <a:prstGeom prst="rect">
            <a:avLst/>
          </a:prstGeom>
        </p:spPr>
      </p:pic>
      <p:sp>
        <p:nvSpPr>
          <p:cNvPr id="19" name="AutoShape 19"/>
          <p:cNvSpPr/>
          <p:nvPr/>
        </p:nvSpPr>
        <p:spPr>
          <a:xfrm>
            <a:off x="6667500" y="3149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models.py</a:t>
            </a:r>
            <a:r>
              <a:rPr lang="en-US" sz="1400" b="0" i="0" u="none" strike="noStrike">
                <a:solidFill>
                  <a:srgbClr val="FFFFFF">
                    <a:alpha val="70196"/>
                  </a:srgbClr>
                </a:solidFill>
                <a:latin typeface="Noto Sans SC"/>
                <a:ea typeface="Noto Sans SC"/>
                <a:cs typeface="Noto Sans SC"/>
                <a:sym typeface="Noto Sans SC"/>
              </a:rPr>
              <a:t>- DB schema definitions (Areas, Listings)</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3683000"/>
            <a:ext cx="228600" cy="228600"/>
          </a:xfrm>
          <a:prstGeom prst="rect">
            <a:avLst/>
          </a:prstGeom>
        </p:spPr>
      </p:pic>
      <p:sp>
        <p:nvSpPr>
          <p:cNvPr id="21" name="AutoShape 21"/>
          <p:cNvSpPr/>
          <p:nvPr/>
        </p:nvSpPr>
        <p:spPr>
          <a:xfrm>
            <a:off x="6667500" y="3657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schemas.py</a:t>
            </a:r>
            <a:r>
              <a:rPr lang="en-US" sz="1400" b="0" i="0" u="none" strike="noStrike">
                <a:solidFill>
                  <a:srgbClr val="FFFFFF">
                    <a:alpha val="70196"/>
                  </a:srgbClr>
                </a:solidFill>
                <a:latin typeface="Noto Sans SC"/>
                <a:ea typeface="Noto Sans SC"/>
                <a:cs typeface="Noto Sans SC"/>
                <a:sym typeface="Noto Sans SC"/>
              </a:rPr>
              <a:t>- Pydantic models for data validation</a:t>
            </a:r>
            <a:endParaRPr lang="en-US" sz="1100"/>
          </a:p>
        </p:txBody>
      </p:sp>
      <p:pic>
        <p:nvPicPr>
          <p:cNvPr id="22" name="Picture 2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0" y="4191000"/>
            <a:ext cx="228600" cy="228600"/>
          </a:xfrm>
          <a:prstGeom prst="rect">
            <a:avLst/>
          </a:prstGeom>
        </p:spPr>
      </p:pic>
      <p:sp>
        <p:nvSpPr>
          <p:cNvPr id="23" name="AutoShape 23"/>
          <p:cNvSpPr/>
          <p:nvPr/>
        </p:nvSpPr>
        <p:spPr>
          <a:xfrm>
            <a:off x="6667500" y="4165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routers/</a:t>
            </a:r>
            <a:r>
              <a:rPr lang="en-US" sz="1400" b="0" i="0" u="none" strike="noStrike">
                <a:solidFill>
                  <a:srgbClr val="FFFFFF">
                    <a:alpha val="70196"/>
                  </a:srgbClr>
                </a:solidFill>
                <a:latin typeface="Noto Sans SC"/>
                <a:ea typeface="Noto Sans SC"/>
                <a:cs typeface="Noto Sans SC"/>
                <a:sym typeface="Noto Sans SC"/>
              </a:rPr>
              <a:t>- Modular API endpoints (listings, analytics)</a:t>
            </a:r>
            <a:endParaRPr lang="en-US" sz="1100"/>
          </a:p>
        </p:txBody>
      </p:sp>
      <p:pic>
        <p:nvPicPr>
          <p:cNvPr id="24"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0" y="4699000"/>
            <a:ext cx="228600" cy="228600"/>
          </a:xfrm>
          <a:prstGeom prst="rect">
            <a:avLst/>
          </a:prstGeom>
        </p:spPr>
      </p:pic>
      <p:sp>
        <p:nvSpPr>
          <p:cNvPr id="25" name="AutoShape 25"/>
          <p:cNvSpPr/>
          <p:nvPr/>
        </p:nvSpPr>
        <p:spPr>
          <a:xfrm>
            <a:off x="6667500" y="46736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scripts/</a:t>
            </a:r>
            <a:r>
              <a:rPr lang="en-US" sz="1400" b="0" i="0" u="none" strike="noStrike">
                <a:solidFill>
                  <a:srgbClr val="FFFFFF">
                    <a:alpha val="70196"/>
                  </a:srgbClr>
                </a:solidFill>
                <a:latin typeface="Noto Sans SC"/>
                <a:ea typeface="Noto Sans SC"/>
                <a:cs typeface="Noto Sans SC"/>
                <a:sym typeface="Noto Sans SC"/>
              </a:rPr>
              <a:t>- Utilities for data import &amp; checks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762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Data Model</a:t>
            </a:r>
            <a:endParaRPr lang="en-US" sz="1100"/>
          </a:p>
        </p:txBody>
      </p:sp>
      <p:sp>
        <p:nvSpPr>
          <p:cNvPr id="4" name="AutoShape 4"/>
          <p:cNvSpPr/>
          <p:nvPr/>
        </p:nvSpPr>
        <p:spPr>
          <a:xfrm>
            <a:off x="762000" y="1778000"/>
            <a:ext cx="3302000" cy="3556000"/>
          </a:xfrm>
          <a:prstGeom prst="roundRect">
            <a:avLst>
              <a:gd name="adj" fmla="val 3846"/>
            </a:avLst>
          </a:prstGeom>
          <a:solidFill>
            <a:srgbClr val="FFFFFF">
              <a:alpha val="10000"/>
            </a:srgbClr>
          </a:solidFill>
          <a:ln w="12700" cap="flat" cmpd="sng">
            <a:solidFill>
              <a:srgbClr val="42A5F5">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6" name="AutoShape 6"/>
          <p:cNvSpPr/>
          <p:nvPr/>
        </p:nvSpPr>
        <p:spPr>
          <a:xfrm>
            <a:off x="1016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Areas Table</a:t>
            </a:r>
            <a:endParaRPr lang="en-US" sz="1100"/>
          </a:p>
        </p:txBody>
      </p:sp>
      <p:cxnSp>
        <p:nvCxnSpPr>
          <p:cNvPr id="7" name="Connector 7"/>
          <p:cNvCxnSpPr/>
          <p:nvPr/>
        </p:nvCxnSpPr>
        <p:spPr>
          <a:xfrm rot="-15626">
            <a:off x="1016014" y="2978150"/>
            <a:ext cx="279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8" name="AutoShape 8"/>
          <p:cNvSpPr/>
          <p:nvPr/>
        </p:nvSpPr>
        <p:spPr>
          <a:xfrm>
            <a:off x="1016000" y="31115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90196"/>
                  </a:srgbClr>
                </a:solidFill>
                <a:latin typeface="Noto Sans SC"/>
                <a:ea typeface="Noto Sans SC"/>
                <a:cs typeface="Noto Sans SC"/>
                <a:sym typeface="Noto Sans SC"/>
              </a:rPr>
              <a:t>Stores geographic data (name, postcode, city)</a:t>
            </a:r>
            <a:endParaRPr lang="en-US" sz="1100"/>
          </a:p>
          <a:p>
            <a:pPr marL="177800" indent="-177800" algn="l">
              <a:lnSpc>
                <a:spcPct val="125000"/>
              </a:lnSpc>
              <a:buClr>
                <a:srgbClr val="FFFFFF"/>
              </a:buClr>
              <a:buChar char="•"/>
            </a:pPr>
            <a:r>
              <a:rPr lang="en-US" sz="1400" b="0" i="0" u="none" strike="noStrike">
                <a:solidFill>
                  <a:srgbClr val="FFFFFF">
                    <a:alpha val="90196"/>
                  </a:srgbClr>
                </a:solidFill>
                <a:latin typeface="Noto Sans SC"/>
                <a:ea typeface="Noto Sans SC"/>
                <a:cs typeface="Noto Sans SC"/>
                <a:sym typeface="Noto Sans SC"/>
              </a:rPr>
              <a:t>Includes average income for affordability calculations</a:t>
            </a:r>
          </a:p>
        </p:txBody>
      </p:sp>
      <p:sp>
        <p:nvSpPr>
          <p:cNvPr id="9" name="AutoShape 9"/>
          <p:cNvSpPr/>
          <p:nvPr/>
        </p:nvSpPr>
        <p:spPr>
          <a:xfrm>
            <a:off x="4445000" y="1778000"/>
            <a:ext cx="3302000" cy="3556000"/>
          </a:xfrm>
          <a:prstGeom prst="roundRect">
            <a:avLst>
              <a:gd name="adj" fmla="val 3846"/>
            </a:avLst>
          </a:prstGeom>
          <a:solidFill>
            <a:srgbClr val="FFFFFF">
              <a:alpha val="10000"/>
            </a:srgbClr>
          </a:solidFill>
          <a:ln w="12700" cap="flat" cmpd="sng">
            <a:solidFill>
              <a:srgbClr val="42A5F5">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032000"/>
            <a:ext cx="406400" cy="406400"/>
          </a:xfrm>
          <a:prstGeom prst="rect">
            <a:avLst/>
          </a:prstGeom>
        </p:spPr>
      </p:pic>
      <p:sp>
        <p:nvSpPr>
          <p:cNvPr id="11" name="AutoShape 11"/>
          <p:cNvSpPr/>
          <p:nvPr/>
        </p:nvSpPr>
        <p:spPr>
          <a:xfrm>
            <a:off x="4699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Listings Table</a:t>
            </a:r>
            <a:endParaRPr lang="en-US" sz="1100"/>
          </a:p>
        </p:txBody>
      </p:sp>
      <p:cxnSp>
        <p:nvCxnSpPr>
          <p:cNvPr id="12" name="Connector 12"/>
          <p:cNvCxnSpPr/>
          <p:nvPr/>
        </p:nvCxnSpPr>
        <p:spPr>
          <a:xfrm rot="-15626">
            <a:off x="4699014" y="2978150"/>
            <a:ext cx="279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3" name="AutoShape 13"/>
          <p:cNvSpPr/>
          <p:nvPr/>
        </p:nvSpPr>
        <p:spPr>
          <a:xfrm>
            <a:off x="4699000" y="31115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90196"/>
                  </a:srgbClr>
                </a:solidFill>
                <a:latin typeface="Noto Sans SC"/>
                <a:ea typeface="Noto Sans SC"/>
                <a:cs typeface="Noto Sans SC"/>
                <a:sym typeface="Noto Sans SC"/>
              </a:rPr>
              <a:t>Contains user-submitted rental ads (rent, bedrooms, type)</a:t>
            </a:r>
            <a:endParaRPr lang="en-US" sz="1100"/>
          </a:p>
          <a:p>
            <a:pPr marL="177800" indent="-177800" algn="l">
              <a:lnSpc>
                <a:spcPct val="125000"/>
              </a:lnSpc>
              <a:buClr>
                <a:srgbClr val="FFFFFF"/>
              </a:buClr>
              <a:buChar char="•"/>
            </a:pPr>
            <a:r>
              <a:rPr lang="en-US" sz="1400" b="0" i="0" u="none" strike="noStrike">
                <a:solidFill>
                  <a:srgbClr val="FFFFFF">
                    <a:alpha val="90196"/>
                  </a:srgbClr>
                </a:solidFill>
                <a:latin typeface="Noto Sans SC"/>
                <a:ea typeface="Noto Sans SC"/>
                <a:cs typeface="Noto Sans SC"/>
                <a:sym typeface="Noto Sans SC"/>
              </a:rPr>
              <a:t>Linked to Areas via</a:t>
            </a:r>
            <a:r>
              <a:rPr lang="en-US" sz="1400" b="1" i="0" u="none" strike="noStrike">
                <a:solidFill>
                  <a:srgbClr val="FFFFFF">
                    <a:alpha val="90196"/>
                  </a:srgbClr>
                </a:solidFill>
                <a:latin typeface="Noto Sans SC"/>
                <a:ea typeface="Noto Sans SC"/>
                <a:cs typeface="Noto Sans SC"/>
                <a:sym typeface="Noto Sans SC"/>
              </a:rPr>
              <a:t>area_id</a:t>
            </a:r>
            <a:r>
              <a:rPr lang="en-US" sz="1400" b="0" i="0" u="none" strike="noStrike">
                <a:solidFill>
                  <a:srgbClr val="FFFFFF">
                    <a:alpha val="90196"/>
                  </a:srgbClr>
                </a:solidFill>
                <a:latin typeface="Noto Sans SC"/>
                <a:ea typeface="Noto Sans SC"/>
                <a:cs typeface="Noto Sans SC"/>
                <a:sym typeface="Noto Sans SC"/>
              </a:rPr>
              <a:t>foreign key</a:t>
            </a:r>
          </a:p>
        </p:txBody>
      </p:sp>
      <p:sp>
        <p:nvSpPr>
          <p:cNvPr id="14" name="AutoShape 14"/>
          <p:cNvSpPr/>
          <p:nvPr/>
        </p:nvSpPr>
        <p:spPr>
          <a:xfrm>
            <a:off x="8128000" y="1778000"/>
            <a:ext cx="3302000" cy="3556000"/>
          </a:xfrm>
          <a:prstGeom prst="roundRect">
            <a:avLst>
              <a:gd name="adj" fmla="val 3846"/>
            </a:avLst>
          </a:prstGeom>
          <a:solidFill>
            <a:srgbClr val="FFFFFF">
              <a:alpha val="10000"/>
            </a:srgbClr>
          </a:solidFill>
          <a:ln w="12700" cap="flat" cmpd="sng">
            <a:solidFill>
              <a:srgbClr val="42A5F5">
                <a:alpha val="5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2032000"/>
            <a:ext cx="406400" cy="406400"/>
          </a:xfrm>
          <a:prstGeom prst="rect">
            <a:avLst/>
          </a:prstGeom>
        </p:spPr>
      </p:pic>
      <p:sp>
        <p:nvSpPr>
          <p:cNvPr id="16" name="AutoShape 16"/>
          <p:cNvSpPr/>
          <p:nvPr/>
        </p:nvSpPr>
        <p:spPr>
          <a:xfrm>
            <a:off x="8382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OfficialRentStats</a:t>
            </a:r>
            <a:endParaRPr lang="en-US" sz="1100"/>
          </a:p>
        </p:txBody>
      </p:sp>
      <p:cxnSp>
        <p:nvCxnSpPr>
          <p:cNvPr id="17" name="Connector 17"/>
          <p:cNvCxnSpPr/>
          <p:nvPr/>
        </p:nvCxnSpPr>
        <p:spPr>
          <a:xfrm rot="-15626">
            <a:off x="8382014" y="2978150"/>
            <a:ext cx="279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8" name="AutoShape 18"/>
          <p:cNvSpPr/>
          <p:nvPr/>
        </p:nvSpPr>
        <p:spPr>
          <a:xfrm>
            <a:off x="8382000" y="31115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90196"/>
                  </a:srgbClr>
                </a:solidFill>
                <a:latin typeface="Noto Sans SC"/>
                <a:ea typeface="Noto Sans SC"/>
                <a:cs typeface="Noto Sans SC"/>
                <a:sym typeface="Noto Sans SC"/>
              </a:rPr>
              <a:t>Imported VOA PRMS data (median, mean, quartiles)</a:t>
            </a:r>
            <a:endParaRPr lang="en-US" sz="1100"/>
          </a:p>
          <a:p>
            <a:pPr marL="177800" indent="-177800" algn="l">
              <a:lnSpc>
                <a:spcPct val="125000"/>
              </a:lnSpc>
              <a:buClr>
                <a:srgbClr val="FFFFFF"/>
              </a:buClr>
              <a:buChar char="•"/>
            </a:pPr>
            <a:r>
              <a:rPr lang="en-US" sz="1400" b="0" i="0" u="none" strike="noStrike">
                <a:solidFill>
                  <a:srgbClr val="FFFFFF">
                    <a:alpha val="90196"/>
                  </a:srgbClr>
                </a:solidFill>
                <a:latin typeface="Noto Sans SC"/>
                <a:ea typeface="Noto Sans SC"/>
                <a:cs typeface="Noto Sans SC"/>
                <a:sym typeface="Noto Sans SC"/>
              </a:rPr>
              <a:t>Provides statistical benchmarks for analysis</a:t>
            </a:r>
          </a:p>
        </p:txBody>
      </p:sp>
      <p:sp>
        <p:nvSpPr>
          <p:cNvPr id="19" name="AutoShape 19"/>
          <p:cNvSpPr/>
          <p:nvPr/>
        </p:nvSpPr>
        <p:spPr>
          <a:xfrm>
            <a:off x="762000" y="5588000"/>
            <a:ext cx="10668000" cy="762000"/>
          </a:xfrm>
          <a:prstGeom prst="roundRect">
            <a:avLst>
              <a:gd name="adj" fmla="val 16666"/>
            </a:avLst>
          </a:prstGeom>
          <a:solidFill>
            <a:srgbClr val="42A5F5">
              <a:alpha val="15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816600"/>
            <a:ext cx="304800" cy="304800"/>
          </a:xfrm>
          <a:prstGeom prst="rect">
            <a:avLst/>
          </a:prstGeom>
        </p:spPr>
      </p:pic>
      <p:sp>
        <p:nvSpPr>
          <p:cNvPr id="21" name="AutoShape 21"/>
          <p:cNvSpPr/>
          <p:nvPr/>
        </p:nvSpPr>
        <p:spPr>
          <a:xfrm>
            <a:off x="1397000" y="5778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Relationship:</a:t>
            </a:r>
            <a:r>
              <a:rPr lang="en-US" sz="1600" b="0" i="0" u="none" strike="noStrike">
                <a:solidFill>
                  <a:srgbClr val="FFFFFF"/>
                </a:solidFill>
                <a:latin typeface="Noto Sans SC"/>
                <a:ea typeface="Noto Sans SC"/>
                <a:cs typeface="Noto Sans SC"/>
                <a:sym typeface="Noto Sans SC"/>
              </a:rPr>
              <a:t>Establishes a One-to-Many relationship between Areas and Listings.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Core Features &amp; Demo</a:t>
            </a:r>
            <a:endParaRPr lang="en-US" sz="1100"/>
          </a:p>
        </p:txBody>
      </p:sp>
      <p:sp>
        <p:nvSpPr>
          <p:cNvPr id="4" name="AutoShape 4"/>
          <p:cNvSpPr/>
          <p:nvPr/>
        </p:nvSpPr>
        <p:spPr>
          <a:xfrm>
            <a:off x="762000" y="2032000"/>
            <a:ext cx="3302000" cy="3302000"/>
          </a:xfrm>
          <a:prstGeom prst="roundRect">
            <a:avLst>
              <a:gd name="adj" fmla="val 3846"/>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406400" cy="406400"/>
          </a:xfrm>
          <a:prstGeom prst="rect">
            <a:avLst/>
          </a:prstGeom>
        </p:spPr>
      </p:pic>
      <p:sp>
        <p:nvSpPr>
          <p:cNvPr id="6" name="AutoShape 6"/>
          <p:cNvSpPr/>
          <p:nvPr/>
        </p:nvSpPr>
        <p:spPr>
          <a:xfrm>
            <a:off x="1016000" y="2794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CRUD Operations</a:t>
            </a:r>
            <a:endParaRPr lang="en-US" sz="1100"/>
          </a:p>
        </p:txBody>
      </p:sp>
      <p:sp>
        <p:nvSpPr>
          <p:cNvPr id="7" name="AutoShape 7"/>
          <p:cNvSpPr/>
          <p:nvPr/>
        </p:nvSpPr>
        <p:spPr>
          <a:xfrm>
            <a:off x="1016000" y="32385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80000"/>
                  </a:srgbClr>
                </a:solidFill>
                <a:latin typeface="Noto Sans SC"/>
                <a:ea typeface="Noto Sans SC"/>
                <a:cs typeface="Noto Sans SC"/>
                <a:sym typeface="Noto Sans SC"/>
              </a:rPr>
              <a:t>Full RESTful endpoints for managing listings and areas: Create, Read, Update, Delete.</a:t>
            </a:r>
            <a:endParaRPr lang="en-US" sz="1100"/>
          </a:p>
        </p:txBody>
      </p:sp>
      <p:sp>
        <p:nvSpPr>
          <p:cNvPr id="8" name="AutoShape 8"/>
          <p:cNvSpPr/>
          <p:nvPr/>
        </p:nvSpPr>
        <p:spPr>
          <a:xfrm>
            <a:off x="4445000" y="2032000"/>
            <a:ext cx="3302000" cy="3302000"/>
          </a:xfrm>
          <a:prstGeom prst="roundRect">
            <a:avLst>
              <a:gd name="adj" fmla="val 3846"/>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286000"/>
            <a:ext cx="406400" cy="406400"/>
          </a:xfrm>
          <a:prstGeom prst="rect">
            <a:avLst/>
          </a:prstGeom>
        </p:spPr>
      </p:pic>
      <p:sp>
        <p:nvSpPr>
          <p:cNvPr id="10" name="AutoShape 10"/>
          <p:cNvSpPr/>
          <p:nvPr/>
        </p:nvSpPr>
        <p:spPr>
          <a:xfrm>
            <a:off x="4699000" y="2794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Analytics Insights</a:t>
            </a:r>
            <a:endParaRPr lang="en-US" sz="1100"/>
          </a:p>
        </p:txBody>
      </p:sp>
      <p:sp>
        <p:nvSpPr>
          <p:cNvPr id="11" name="AutoShape 11"/>
          <p:cNvSpPr/>
          <p:nvPr/>
        </p:nvSpPr>
        <p:spPr>
          <a:xfrm>
            <a:off x="4699000" y="3238500"/>
            <a:ext cx="2794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80000"/>
                  </a:srgbClr>
                </a:solidFill>
                <a:latin typeface="Noto Sans SC"/>
                <a:ea typeface="Noto Sans SC"/>
                <a:cs typeface="Noto Sans SC"/>
                <a:sym typeface="Noto Sans SC"/>
              </a:rPr>
              <a:t>Area rent stats (mean/median)</a:t>
            </a:r>
            <a:endParaRPr lang="en-US" sz="1100"/>
          </a:p>
          <a:p>
            <a:pPr marL="177800" indent="-177800" algn="l">
              <a:lnSpc>
                <a:spcPct val="125000"/>
              </a:lnSpc>
              <a:buClr>
                <a:srgbClr val="FFFFFF"/>
              </a:buClr>
              <a:buChar char="•"/>
            </a:pPr>
            <a:r>
              <a:rPr lang="en-US" sz="1400" b="0" i="0" u="none" strike="noStrike">
                <a:solidFill>
                  <a:srgbClr val="FFFFFF">
                    <a:alpha val="80000"/>
                  </a:srgbClr>
                </a:solidFill>
                <a:latin typeface="Noto Sans SC"/>
                <a:ea typeface="Noto Sans SC"/>
                <a:cs typeface="Noto Sans SC"/>
                <a:sym typeface="Noto Sans SC"/>
              </a:rPr>
              <a:t>Rent-to-income ratio analysis</a:t>
            </a:r>
          </a:p>
        </p:txBody>
      </p:sp>
      <p:sp>
        <p:nvSpPr>
          <p:cNvPr id="12" name="AutoShape 12"/>
          <p:cNvSpPr/>
          <p:nvPr/>
        </p:nvSpPr>
        <p:spPr>
          <a:xfrm>
            <a:off x="8128000" y="2032000"/>
            <a:ext cx="3302000" cy="3302000"/>
          </a:xfrm>
          <a:prstGeom prst="roundRect">
            <a:avLst>
              <a:gd name="adj" fmla="val 3846"/>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2286000"/>
            <a:ext cx="406400" cy="406400"/>
          </a:xfrm>
          <a:prstGeom prst="rect">
            <a:avLst/>
          </a:prstGeom>
        </p:spPr>
      </p:pic>
      <p:sp>
        <p:nvSpPr>
          <p:cNvPr id="14" name="AutoShape 14"/>
          <p:cNvSpPr/>
          <p:nvPr/>
        </p:nvSpPr>
        <p:spPr>
          <a:xfrm>
            <a:off x="8382000" y="2794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Official Stats</a:t>
            </a:r>
            <a:endParaRPr lang="en-US" sz="1100"/>
          </a:p>
        </p:txBody>
      </p:sp>
      <p:sp>
        <p:nvSpPr>
          <p:cNvPr id="15" name="AutoShape 15"/>
          <p:cNvSpPr/>
          <p:nvPr/>
        </p:nvSpPr>
        <p:spPr>
          <a:xfrm>
            <a:off x="8382000" y="3238500"/>
            <a:ext cx="2794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80000"/>
                  </a:srgbClr>
                </a:solidFill>
                <a:latin typeface="Noto Sans SC"/>
                <a:ea typeface="Noto Sans SC"/>
                <a:cs typeface="Noto Sans SC"/>
                <a:sym typeface="Noto Sans SC"/>
              </a:rPr>
              <a:t>Query imported VOA data</a:t>
            </a:r>
            <a:endParaRPr lang="en-US" sz="1100"/>
          </a:p>
          <a:p>
            <a:pPr marL="177800" indent="-177800" algn="l">
              <a:lnSpc>
                <a:spcPct val="125000"/>
              </a:lnSpc>
              <a:buClr>
                <a:srgbClr val="FFFFFF"/>
              </a:buClr>
              <a:buChar char="•"/>
            </a:pPr>
            <a:r>
              <a:rPr lang="en-US" sz="1400" b="0" i="0" u="none" strike="noStrike">
                <a:solidFill>
                  <a:srgbClr val="FFFFFF">
                    <a:alpha val="80000"/>
                  </a:srgbClr>
                </a:solidFill>
                <a:latin typeface="Noto Sans SC"/>
                <a:ea typeface="Noto Sans SC"/>
                <a:cs typeface="Noto Sans SC"/>
                <a:sym typeface="Noto Sans SC"/>
              </a:rPr>
              <a:t>Compare user data with official benchmarks</a:t>
            </a:r>
          </a:p>
        </p:txBody>
      </p:sp>
      <p:sp>
        <p:nvSpPr>
          <p:cNvPr id="16" name="AutoShape 16"/>
          <p:cNvSpPr/>
          <p:nvPr/>
        </p:nvSpPr>
        <p:spPr>
          <a:xfrm>
            <a:off x="762000" y="5588000"/>
            <a:ext cx="10668000" cy="762000"/>
          </a:xfrm>
          <a:prstGeom prst="roundRect">
            <a:avLst>
              <a:gd name="adj" fmla="val 16666"/>
            </a:avLst>
          </a:prstGeom>
          <a:solidFill>
            <a:srgbClr val="42A5F5">
              <a:alpha val="20000"/>
            </a:srgbClr>
          </a:solidFill>
          <a:ln w="12700" cap="flat" cmpd="sng">
            <a:solidFill>
              <a:srgbClr val="42A5F5">
                <a:alpha val="10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816600"/>
            <a:ext cx="304800" cy="304800"/>
          </a:xfrm>
          <a:prstGeom prst="rect">
            <a:avLst/>
          </a:prstGeom>
        </p:spPr>
      </p:pic>
      <p:sp>
        <p:nvSpPr>
          <p:cNvPr id="18" name="AutoShape 18"/>
          <p:cNvSpPr/>
          <p:nvPr/>
        </p:nvSpPr>
        <p:spPr>
          <a:xfrm>
            <a:off x="1460500" y="5778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Demo: Access interactive documentation at</a:t>
            </a:r>
            <a:r>
              <a:rPr lang="en-US" sz="1600" b="1" i="0" u="none" strike="noStrike">
                <a:solidFill>
                  <a:srgbClr val="42A5F5"/>
                </a:solidFill>
                <a:latin typeface="Noto Sans SC"/>
                <a:ea typeface="Noto Sans SC"/>
                <a:cs typeface="Noto Sans SC"/>
                <a:sym typeface="Noto Sans SC"/>
              </a:rPr>
              <a:t>http://127.0.0.1:8000/docs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Technology Choices &amp; Justification</a:t>
            </a:r>
            <a:endParaRPr lang="en-US" sz="1100"/>
          </a:p>
        </p:txBody>
      </p:sp>
      <p:sp>
        <p:nvSpPr>
          <p:cNvPr id="4" name="AutoShape 4"/>
          <p:cNvSpPr/>
          <p:nvPr/>
        </p:nvSpPr>
        <p:spPr>
          <a:xfrm>
            <a:off x="762000" y="2032000"/>
            <a:ext cx="3302000" cy="3810000"/>
          </a:xfrm>
          <a:prstGeom prst="roundRect">
            <a:avLst>
              <a:gd name="adj" fmla="val 3846"/>
            </a:avLst>
          </a:prstGeom>
          <a:solidFill>
            <a:srgbClr val="FFFFFF">
              <a:alpha val="10000"/>
            </a:srgbClr>
          </a:solidFill>
          <a:ln w="12700" cap="flat" cmpd="sng">
            <a:solidFill>
              <a:srgbClr val="42A5F5">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609600" cy="609600"/>
          </a:xfrm>
          <a:prstGeom prst="rect">
            <a:avLst/>
          </a:prstGeom>
        </p:spPr>
      </p:pic>
      <p:sp>
        <p:nvSpPr>
          <p:cNvPr id="6" name="AutoShape 6"/>
          <p:cNvSpPr/>
          <p:nvPr/>
        </p:nvSpPr>
        <p:spPr>
          <a:xfrm>
            <a:off x="1016000" y="2984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FastAPI</a:t>
            </a:r>
            <a:endParaRPr lang="en-US" sz="1100"/>
          </a:p>
        </p:txBody>
      </p:sp>
      <p:sp>
        <p:nvSpPr>
          <p:cNvPr id="7" name="AutoShape 7"/>
          <p:cNvSpPr/>
          <p:nvPr/>
        </p:nvSpPr>
        <p:spPr>
          <a:xfrm>
            <a:off x="1016000" y="3429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Chosen for automatic request validation (Pydantic), high performance (ASGI), and auto-generated Swagger docs, reducing development time significantly.</a:t>
            </a:r>
            <a:endParaRPr lang="en-US" sz="1100"/>
          </a:p>
        </p:txBody>
      </p:sp>
      <p:sp>
        <p:nvSpPr>
          <p:cNvPr id="8" name="AutoShape 8"/>
          <p:cNvSpPr/>
          <p:nvPr/>
        </p:nvSpPr>
        <p:spPr>
          <a:xfrm>
            <a:off x="4445000" y="2032000"/>
            <a:ext cx="3302000" cy="3810000"/>
          </a:xfrm>
          <a:prstGeom prst="roundRect">
            <a:avLst>
              <a:gd name="adj" fmla="val 3846"/>
            </a:avLst>
          </a:prstGeom>
          <a:solidFill>
            <a:srgbClr val="FFFFFF">
              <a:alpha val="10000"/>
            </a:srgbClr>
          </a:solidFill>
          <a:ln w="12700" cap="flat" cmpd="sng">
            <a:solidFill>
              <a:srgbClr val="42A5F5">
                <a:alpha val="5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286000"/>
            <a:ext cx="609600" cy="609600"/>
          </a:xfrm>
          <a:prstGeom prst="rect">
            <a:avLst/>
          </a:prstGeom>
        </p:spPr>
      </p:pic>
      <p:sp>
        <p:nvSpPr>
          <p:cNvPr id="10" name="AutoShape 10"/>
          <p:cNvSpPr/>
          <p:nvPr/>
        </p:nvSpPr>
        <p:spPr>
          <a:xfrm>
            <a:off x="4699000" y="2984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SQLAlchemy + SQLite</a:t>
            </a:r>
            <a:endParaRPr lang="en-US" sz="1100"/>
          </a:p>
        </p:txBody>
      </p:sp>
      <p:sp>
        <p:nvSpPr>
          <p:cNvPr id="11" name="AutoShape 11"/>
          <p:cNvSpPr/>
          <p:nvPr/>
        </p:nvSpPr>
        <p:spPr>
          <a:xfrm>
            <a:off x="4699000" y="3429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SQLAlchemy provides a clean ORM layer. SQLite is ideal for coursework as it's file-based, requires no server setup, and is easily portable.</a:t>
            </a:r>
            <a:endParaRPr lang="en-US" sz="1100"/>
          </a:p>
        </p:txBody>
      </p:sp>
      <p:sp>
        <p:nvSpPr>
          <p:cNvPr id="12" name="AutoShape 12"/>
          <p:cNvSpPr/>
          <p:nvPr/>
        </p:nvSpPr>
        <p:spPr>
          <a:xfrm>
            <a:off x="8128000" y="2032000"/>
            <a:ext cx="3302000" cy="3810000"/>
          </a:xfrm>
          <a:prstGeom prst="roundRect">
            <a:avLst>
              <a:gd name="adj" fmla="val 3846"/>
            </a:avLst>
          </a:prstGeom>
          <a:solidFill>
            <a:srgbClr val="FFFFFF">
              <a:alpha val="10000"/>
            </a:srgbClr>
          </a:solidFill>
          <a:ln w="12700" cap="flat" cmpd="sng">
            <a:solidFill>
              <a:srgbClr val="42A5F5">
                <a:alpha val="5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2286000"/>
            <a:ext cx="609600" cy="609600"/>
          </a:xfrm>
          <a:prstGeom prst="rect">
            <a:avLst/>
          </a:prstGeom>
        </p:spPr>
      </p:pic>
      <p:sp>
        <p:nvSpPr>
          <p:cNvPr id="14" name="AutoShape 14"/>
          <p:cNvSpPr/>
          <p:nvPr/>
        </p:nvSpPr>
        <p:spPr>
          <a:xfrm>
            <a:off x="8382000" y="2984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pandas + xlrd</a:t>
            </a:r>
            <a:endParaRPr lang="en-US" sz="1100"/>
          </a:p>
        </p:txBody>
      </p:sp>
      <p:sp>
        <p:nvSpPr>
          <p:cNvPr id="15" name="AutoShape 15"/>
          <p:cNvSpPr/>
          <p:nvPr/>
        </p:nvSpPr>
        <p:spPr>
          <a:xfrm>
            <a:off x="8382000" y="3429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Used to parse the legacy .xls format of the VOA dataset and import it into the relational database, enabling efficient querying.</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D47A1">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a:ea typeface="Noto Sans SC"/>
                <a:cs typeface="Noto Sans SC"/>
                <a:sym typeface="Noto Sans SC"/>
              </a:rPr>
              <a:t>Challenges &amp; Future Work</a:t>
            </a:r>
            <a:endParaRPr lang="en-US" sz="1100"/>
          </a:p>
        </p:txBody>
      </p:sp>
      <p:sp>
        <p:nvSpPr>
          <p:cNvPr id="4" name="AutoShape 4"/>
          <p:cNvSpPr/>
          <p:nvPr/>
        </p:nvSpPr>
        <p:spPr>
          <a:xfrm>
            <a:off x="762000" y="2032000"/>
            <a:ext cx="5080000" cy="4064000"/>
          </a:xfrm>
          <a:prstGeom prst="roundRect">
            <a:avLst>
              <a:gd name="adj" fmla="val 3125"/>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304800" cy="304800"/>
          </a:xfrm>
          <a:prstGeom prst="rect">
            <a:avLst/>
          </a:prstGeom>
        </p:spPr>
      </p:pic>
      <p:sp>
        <p:nvSpPr>
          <p:cNvPr id="6" name="AutoShape 6"/>
          <p:cNvSpPr/>
          <p:nvPr/>
        </p:nvSpPr>
        <p:spPr>
          <a:xfrm>
            <a:off x="1397000" y="2260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Challenges &amp; Solutions</a:t>
            </a:r>
            <a:endParaRPr lang="en-US" sz="1100"/>
          </a:p>
        </p:txBody>
      </p:sp>
      <p:cxnSp>
        <p:nvCxnSpPr>
          <p:cNvPr id="7" name="Connector 7"/>
          <p:cNvCxnSpPr/>
          <p:nvPr/>
        </p:nvCxnSpPr>
        <p:spPr>
          <a:xfrm rot="-9549">
            <a:off x="1016009" y="2724150"/>
            <a:ext cx="457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984500"/>
            <a:ext cx="254000" cy="254000"/>
          </a:xfrm>
          <a:prstGeom prst="rect">
            <a:avLst/>
          </a:prstGeom>
        </p:spPr>
      </p:pic>
      <p:sp>
        <p:nvSpPr>
          <p:cNvPr id="9" name="AutoShape 9"/>
          <p:cNvSpPr/>
          <p:nvPr/>
        </p:nvSpPr>
        <p:spPr>
          <a:xfrm>
            <a:off x="1397000" y="29464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Importing .xls Data</a:t>
            </a:r>
            <a:endParaRPr lang="en-US" sz="1100"/>
          </a:p>
          <a:p>
            <a:pPr indent="0" algn="l">
              <a:lnSpc>
                <a:spcPct val="125000"/>
              </a:lnSpc>
            </a:pPr>
            <a:r>
              <a:rPr lang="en-US" sz="1400" b="0" i="0" u="none" strike="noStrike">
                <a:solidFill>
                  <a:srgbClr val="FFFFFF">
                    <a:alpha val="80000"/>
                  </a:srgbClr>
                </a:solidFill>
                <a:latin typeface="Noto Sans SC"/>
                <a:ea typeface="Noto Sans SC"/>
                <a:cs typeface="Noto Sans SC"/>
                <a:sym typeface="Noto Sans SC"/>
              </a:rPr>
              <a:t>Parsed legacy format with pandas/xlrd and handled missing values.</a:t>
            </a: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83000"/>
            <a:ext cx="254000" cy="254000"/>
          </a:xfrm>
          <a:prstGeom prst="rect">
            <a:avLst/>
          </a:prstGeom>
        </p:spPr>
      </p:pic>
      <p:sp>
        <p:nvSpPr>
          <p:cNvPr id="11" name="AutoShape 11"/>
          <p:cNvSpPr/>
          <p:nvPr/>
        </p:nvSpPr>
        <p:spPr>
          <a:xfrm>
            <a:off x="1397000" y="3746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FFFFFF"/>
                </a:solidFill>
                <a:latin typeface="Noto Sans SC"/>
                <a:ea typeface="Noto Sans SC"/>
                <a:cs typeface="Noto Sans SC"/>
                <a:sym typeface="Noto Sans SC"/>
              </a:rPr>
              <a:t>Python Import Paths</a:t>
            </a:r>
            <a:endParaRPr lang="en-US" sz="1100" dirty="0"/>
          </a:p>
          <a:p>
            <a:pPr indent="0" algn="l">
              <a:lnSpc>
                <a:spcPct val="125000"/>
              </a:lnSpc>
            </a:pPr>
            <a:r>
              <a:rPr lang="en-US" sz="1400" b="0" i="0" u="none" strike="noStrike" dirty="0">
                <a:solidFill>
                  <a:srgbClr val="FFFFFF">
                    <a:alpha val="80000"/>
                  </a:srgbClr>
                </a:solidFill>
                <a:latin typeface="Noto Sans SC"/>
                <a:ea typeface="Noto Sans SC"/>
                <a:cs typeface="Noto Sans SC"/>
                <a:sym typeface="Noto Sans SC"/>
              </a:rPr>
              <a:t>Fixed 'module not found' errors by configuring </a:t>
            </a:r>
            <a:r>
              <a:rPr lang="en-US" sz="1400" b="0" i="0" u="none" strike="noStrike" dirty="0" err="1">
                <a:solidFill>
                  <a:srgbClr val="FFFFFF">
                    <a:alpha val="80000"/>
                  </a:srgbClr>
                </a:solidFill>
                <a:latin typeface="Noto Sans SC"/>
                <a:ea typeface="Noto Sans SC"/>
                <a:cs typeface="Noto Sans SC"/>
                <a:sym typeface="Noto Sans SC"/>
              </a:rPr>
              <a:t>sys.path</a:t>
            </a:r>
            <a:r>
              <a:rPr lang="en-US" sz="1400" b="0" i="0" u="none" strike="noStrike" dirty="0">
                <a:solidFill>
                  <a:srgbClr val="FFFFFF">
                    <a:alpha val="80000"/>
                  </a:srgbClr>
                </a:solidFill>
                <a:latin typeface="Noto Sans SC"/>
                <a:ea typeface="Noto Sans SC"/>
                <a:cs typeface="Noto Sans SC"/>
                <a:sym typeface="Noto Sans SC"/>
              </a:rPr>
              <a:t>.</a:t>
            </a:r>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508500"/>
            <a:ext cx="254000" cy="254000"/>
          </a:xfrm>
          <a:prstGeom prst="rect">
            <a:avLst/>
          </a:prstGeom>
        </p:spPr>
      </p:pic>
      <p:sp>
        <p:nvSpPr>
          <p:cNvPr id="13" name="AutoShape 13"/>
          <p:cNvSpPr/>
          <p:nvPr/>
        </p:nvSpPr>
        <p:spPr>
          <a:xfrm>
            <a:off x="1397000" y="4445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FFFFFF"/>
                </a:solidFill>
                <a:latin typeface="Noto Sans SC"/>
                <a:ea typeface="Noto Sans SC"/>
                <a:cs typeface="Noto Sans SC"/>
                <a:sym typeface="Noto Sans SC"/>
              </a:rPr>
              <a:t>Case Sensitivity</a:t>
            </a:r>
            <a:endParaRPr lang="en-US" sz="1100" dirty="0"/>
          </a:p>
          <a:p>
            <a:pPr indent="0" algn="l">
              <a:lnSpc>
                <a:spcPct val="125000"/>
              </a:lnSpc>
            </a:pPr>
            <a:r>
              <a:rPr lang="en-US" sz="1400" b="0" i="0" u="none" strike="noStrike" dirty="0">
                <a:solidFill>
                  <a:srgbClr val="FFFFFF">
                    <a:alpha val="80000"/>
                  </a:srgbClr>
                </a:solidFill>
                <a:latin typeface="Noto Sans SC"/>
                <a:ea typeface="Noto Sans SC"/>
                <a:cs typeface="Noto Sans SC"/>
                <a:sym typeface="Noto Sans SC"/>
              </a:rPr>
              <a:t>Implemented case-insensitive queries for better UX.</a:t>
            </a:r>
          </a:p>
        </p:txBody>
      </p:sp>
      <p:sp>
        <p:nvSpPr>
          <p:cNvPr id="14" name="AutoShape 14"/>
          <p:cNvSpPr/>
          <p:nvPr/>
        </p:nvSpPr>
        <p:spPr>
          <a:xfrm>
            <a:off x="6350000" y="2032000"/>
            <a:ext cx="5080000" cy="4064000"/>
          </a:xfrm>
          <a:prstGeom prst="roundRect">
            <a:avLst>
              <a:gd name="adj" fmla="val 3125"/>
            </a:avLst>
          </a:prstGeom>
          <a:solidFill>
            <a:srgbClr val="FFFFFF">
              <a:alpha val="10000"/>
            </a:srgbClr>
          </a:solidFill>
          <a:ln w="12700" cap="flat" cmpd="sng">
            <a:solidFill>
              <a:srgbClr val="42A5F5">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286000"/>
            <a:ext cx="304800" cy="304800"/>
          </a:xfrm>
          <a:prstGeom prst="rect">
            <a:avLst/>
          </a:prstGeom>
        </p:spPr>
      </p:pic>
      <p:sp>
        <p:nvSpPr>
          <p:cNvPr id="16" name="AutoShape 16"/>
          <p:cNvSpPr/>
          <p:nvPr/>
        </p:nvSpPr>
        <p:spPr>
          <a:xfrm>
            <a:off x="6985000" y="22606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2A5F5"/>
                </a:solidFill>
                <a:latin typeface="Noto Sans SC"/>
                <a:ea typeface="Noto Sans SC"/>
                <a:cs typeface="Noto Sans SC"/>
                <a:sym typeface="Noto Sans SC"/>
              </a:rPr>
              <a:t>Limitations &amp; Future Improvements</a:t>
            </a:r>
            <a:endParaRPr lang="en-US" sz="1100"/>
          </a:p>
        </p:txBody>
      </p:sp>
      <p:cxnSp>
        <p:nvCxnSpPr>
          <p:cNvPr id="17" name="Connector 17"/>
          <p:cNvCxnSpPr/>
          <p:nvPr/>
        </p:nvCxnSpPr>
        <p:spPr>
          <a:xfrm rot="-9549">
            <a:off x="6604009" y="2724150"/>
            <a:ext cx="4572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18" name="Picture 1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2984500"/>
            <a:ext cx="254000" cy="254000"/>
          </a:xfrm>
          <a:prstGeom prst="rect">
            <a:avLst/>
          </a:prstGeom>
        </p:spPr>
      </p:pic>
      <p:sp>
        <p:nvSpPr>
          <p:cNvPr id="19" name="AutoShape 19"/>
          <p:cNvSpPr/>
          <p:nvPr/>
        </p:nvSpPr>
        <p:spPr>
          <a:xfrm>
            <a:off x="6985000" y="29464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Performance Optimization</a:t>
            </a:r>
            <a:endParaRPr lang="en-US" sz="1100"/>
          </a:p>
          <a:p>
            <a:pPr indent="0" algn="l">
              <a:lnSpc>
                <a:spcPct val="125000"/>
              </a:lnSpc>
            </a:pPr>
            <a:r>
              <a:rPr lang="en-US" sz="1400" b="0" i="0" u="none" strike="noStrike">
                <a:solidFill>
                  <a:srgbClr val="FFFFFF">
                    <a:alpha val="80000"/>
                  </a:srgbClr>
                </a:solidFill>
                <a:latin typeface="Noto Sans SC"/>
                <a:ea typeface="Noto Sans SC"/>
                <a:cs typeface="Noto Sans SC"/>
                <a:sym typeface="Noto Sans SC"/>
              </a:rPr>
              <a:t>Move analytics calculations to the database for larger datasets.</a:t>
            </a:r>
          </a:p>
        </p:txBody>
      </p:sp>
      <p:pic>
        <p:nvPicPr>
          <p:cNvPr id="20" name="Picture 20"/>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3683000"/>
            <a:ext cx="254000" cy="254000"/>
          </a:xfrm>
          <a:prstGeom prst="rect">
            <a:avLst/>
          </a:prstGeom>
        </p:spPr>
      </p:pic>
      <p:sp>
        <p:nvSpPr>
          <p:cNvPr id="21" name="AutoShape 21"/>
          <p:cNvSpPr/>
          <p:nvPr/>
        </p:nvSpPr>
        <p:spPr>
          <a:xfrm>
            <a:off x="6985000" y="36449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Security Enhancement</a:t>
            </a:r>
            <a:endParaRPr lang="en-US" sz="1100"/>
          </a:p>
          <a:p>
            <a:pPr indent="0" algn="l">
              <a:lnSpc>
                <a:spcPct val="125000"/>
              </a:lnSpc>
            </a:pPr>
            <a:r>
              <a:rPr lang="en-US" sz="1400" b="0" i="0" u="none" strike="noStrike">
                <a:solidFill>
                  <a:srgbClr val="FFFFFF">
                    <a:alpha val="80000"/>
                  </a:srgbClr>
                </a:solidFill>
                <a:latin typeface="Noto Sans SC"/>
                <a:ea typeface="Noto Sans SC"/>
                <a:cs typeface="Noto Sans SC"/>
                <a:sym typeface="Noto Sans SC"/>
              </a:rPr>
              <a:t>Add API key/JWT authentication and rate limiting.</a:t>
            </a:r>
          </a:p>
        </p:txBody>
      </p:sp>
      <p:pic>
        <p:nvPicPr>
          <p:cNvPr id="22" name="Picture 22"/>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604000" y="4381500"/>
            <a:ext cx="254000" cy="254000"/>
          </a:xfrm>
          <a:prstGeom prst="rect">
            <a:avLst/>
          </a:prstGeom>
        </p:spPr>
      </p:pic>
      <p:sp>
        <p:nvSpPr>
          <p:cNvPr id="23" name="AutoShape 23"/>
          <p:cNvSpPr/>
          <p:nvPr/>
        </p:nvSpPr>
        <p:spPr>
          <a:xfrm>
            <a:off x="6985000" y="43434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Data Freshness</a:t>
            </a:r>
            <a:endParaRPr lang="en-US" sz="1100"/>
          </a:p>
          <a:p>
            <a:pPr indent="0" algn="l">
              <a:lnSpc>
                <a:spcPct val="125000"/>
              </a:lnSpc>
            </a:pPr>
            <a:r>
              <a:rPr lang="en-US" sz="1400" b="0" i="0" u="none" strike="noStrike">
                <a:solidFill>
                  <a:srgbClr val="FFFFFF">
                    <a:alpha val="80000"/>
                  </a:srgbClr>
                </a:solidFill>
                <a:latin typeface="Noto Sans SC"/>
                <a:ea typeface="Noto Sans SC"/>
                <a:cs typeface="Noto Sans SC"/>
                <a:sym typeface="Noto Sans SC"/>
              </a:rPr>
              <a:t>Automate the download of the latest VOA datasets.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147484"/>
            <a:ext cx="12192000" cy="6858000"/>
          </a:xfrm>
          <a:prstGeom prst="roundRect">
            <a:avLst>
              <a:gd name="adj" fmla="val 0"/>
            </a:avLst>
          </a:prstGeom>
          <a:solidFill>
            <a:srgbClr val="0D47A1">
              <a:alpha val="85000"/>
            </a:srgbClr>
          </a:solidFill>
          <a:ln w="25400" cap="flat" cmpd="sng">
            <a:noFill/>
            <a:prstDash val="solid"/>
            <a:round/>
          </a:ln>
        </p:spPr>
        <p:txBody>
          <a:bodyPr vert="horz" wrap="square" lIns="63500" tIns="63500" rIns="63500" bIns="63500" rtlCol="0" anchor="ctr"/>
          <a:lstStyle/>
          <a:p>
            <a:pPr algn="ctr">
              <a:defRPr/>
            </a:pPr>
            <a:r>
              <a:rPr lang="en-US" altLang="zh-CN" sz="5400" dirty="0">
                <a:solidFill>
                  <a:schemeClr val="bg1"/>
                </a:solidFill>
              </a:rPr>
              <a:t>Thank you for</a:t>
            </a:r>
            <a:r>
              <a:rPr lang="zh-CN" altLang="en-US" sz="5400" dirty="0">
                <a:solidFill>
                  <a:schemeClr val="bg1"/>
                </a:solidFill>
              </a:rPr>
              <a:t> </a:t>
            </a:r>
            <a:r>
              <a:rPr lang="en-US" altLang="zh-CN" sz="5400" dirty="0">
                <a:solidFill>
                  <a:schemeClr val="bg1"/>
                </a:solidFill>
              </a:rPr>
              <a:t>watching!</a:t>
            </a:r>
            <a:endParaRPr sz="5400" dirty="0">
              <a:solidFill>
                <a:schemeClr val="bg1"/>
              </a:solidFill>
            </a:endParaRPr>
          </a:p>
        </p:txBody>
      </p:sp>
      <p:sp>
        <p:nvSpPr>
          <p:cNvPr id="3" name="AutoShape 3"/>
          <p:cNvSpPr/>
          <p:nvPr/>
        </p:nvSpPr>
        <p:spPr>
          <a:xfrm>
            <a:off x="1016000" y="762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6" name="AutoShape 6"/>
          <p:cNvSpPr/>
          <p:nvPr/>
        </p:nvSpPr>
        <p:spPr>
          <a:xfrm>
            <a:off x="2159000" y="2032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7" name="AutoShape 7"/>
          <p:cNvSpPr/>
          <p:nvPr/>
        </p:nvSpPr>
        <p:spPr>
          <a:xfrm>
            <a:off x="1651000" y="2476500"/>
            <a:ext cx="8890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endParaRPr lang="en-US" sz="1100" dirty="0"/>
          </a:p>
        </p:txBody>
      </p:sp>
      <p:sp>
        <p:nvSpPr>
          <p:cNvPr id="10" name="AutoShape 10"/>
          <p:cNvSpPr/>
          <p:nvPr/>
        </p:nvSpPr>
        <p:spPr>
          <a:xfrm>
            <a:off x="2159000" y="48260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11" name="AutoShape 11"/>
          <p:cNvSpPr/>
          <p:nvPr/>
        </p:nvSpPr>
        <p:spPr>
          <a:xfrm>
            <a:off x="1651000" y="52705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pic>
        <p:nvPicPr>
          <p:cNvPr id="12" name="Picture 12"/>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1139</Words>
  <Application>Microsoft Office PowerPoint</Application>
  <PresentationFormat>宽屏</PresentationFormat>
  <Paragraphs>95</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8</vt:i4>
      </vt:variant>
    </vt:vector>
  </HeadingPairs>
  <TitlesOfParts>
    <vt:vector size="12"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Xiangyi Xu [sc23xx]</cp:lastModifiedBy>
  <cp:revision>2</cp:revision>
  <dcterms:modified xsi:type="dcterms:W3CDTF">2026-03-12T20:53:04Z</dcterms:modified>
</cp:coreProperties>
</file>